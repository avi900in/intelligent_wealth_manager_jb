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51"/>
  </p:normalViewPr>
  <p:slideViewPr>
    <p:cSldViewPr snapToGrid="0" snapToObjects="1">
      <p:cViewPr varScale="1">
        <p:scale>
          <a:sx n="105" d="100"/>
          <a:sy n="105" d="100"/>
        </p:scale>
        <p:origin x="6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09728" cy="35661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227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C5A059"/>
                </a:solidFill>
              </a:defRPr>
            </a:pPr>
            <a:r>
              <a:rPr dirty="0"/>
              <a:t>BANK JULIUS BAER • SINGHA</a:t>
            </a:r>
            <a:r>
              <a:rPr lang="en-US" dirty="0"/>
              <a:t>CKS</a:t>
            </a:r>
            <a:r>
              <a:rPr dirty="0"/>
              <a:t> 2026 CHALLENGE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dirty="0"/>
              <a:t>JB Pulse — Wealth Intelligence Cockpit</a:t>
            </a:r>
          </a:p>
          <a:p>
            <a:pPr>
              <a:spcAft>
                <a:spcPts val="1400"/>
              </a:spcAft>
              <a:defRPr sz="2200" b="1">
                <a:solidFill>
                  <a:srgbClr val="C5A059"/>
                </a:solidFill>
              </a:defRPr>
            </a:pPr>
            <a:r>
              <a:rPr lang="en-SG" dirty="0"/>
              <a:t>Where Insight Becomes Foresight</a:t>
            </a:r>
            <a:endParaRPr dirty="0"/>
          </a:p>
          <a:p>
            <a:pPr>
              <a:spcAft>
                <a:spcPts val="2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Explainable Multi-Agent Advisory with Deterministic Financial Guardrails &amp; Four-Eyes Governance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rPr dirty="0"/>
              <a:t>Spec-Driven Engineering • 6 Specialist Agents • Look-Through Risk • 100% LLM Outage Resiliency • Maker-Checker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rPr dirty="0"/>
              <a:t>THE </a:t>
            </a:r>
            <a:r>
              <a:rPr lang="en-US" dirty="0"/>
              <a:t>TEAM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2 of 12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09777B-4FC4-B498-CEBC-C0BE406C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630" y="519648"/>
            <a:ext cx="3866362" cy="53939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CBC935-6810-7070-9DD6-7C1672858F1F}"/>
              </a:ext>
            </a:extLst>
          </p:cNvPr>
          <p:cNvSpPr txBox="1"/>
          <p:nvPr/>
        </p:nvSpPr>
        <p:spPr>
          <a:xfrm>
            <a:off x="1595374" y="3031954"/>
            <a:ext cx="204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Gemini Antigravity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607E1C-66C7-8790-E8CD-8FA3A55D89FC}"/>
              </a:ext>
            </a:extLst>
          </p:cNvPr>
          <p:cNvSpPr txBox="1"/>
          <p:nvPr/>
        </p:nvSpPr>
        <p:spPr>
          <a:xfrm>
            <a:off x="7593558" y="2870630"/>
            <a:ext cx="140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B7ED-DA5A-5E78-77A0-FF43F310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73D66-23E2-2995-EAB9-D99FE79DCD57}"/>
              </a:ext>
            </a:extLst>
          </p:cNvPr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THE PROBLEM STATEMENT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The Private Banking Challenge: The 'Advisory Gap'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7EF01-D3D9-DEC4-0DC5-0605FA52F0E2}"/>
              </a:ext>
            </a:extLst>
          </p:cNvPr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2 of 12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BC3429-B72C-7532-BB6C-00054D514414}"/>
              </a:ext>
            </a:extLst>
          </p:cNvPr>
          <p:cNvSpPr/>
          <p:nvPr/>
        </p:nvSpPr>
        <p:spPr>
          <a:xfrm>
            <a:off x="731520" y="1645920"/>
            <a:ext cx="3429000" cy="429768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1776B-9FD5-9FAC-EF2E-DBD585F9504B}"/>
              </a:ext>
            </a:extLst>
          </p:cNvPr>
          <p:cNvSpPr/>
          <p:nvPr/>
        </p:nvSpPr>
        <p:spPr>
          <a:xfrm>
            <a:off x="731520" y="1645920"/>
            <a:ext cx="342900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44447-A8B3-8427-F783-5F97AB58C8F6}"/>
              </a:ext>
            </a:extLst>
          </p:cNvPr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C1A30"/>
                </a:solidFill>
              </a:defRPr>
            </a:pPr>
            <a:r>
              <a:t>1. Descriptive, Not Advisory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Current digital tools stop at descriptive reporting ('What is' — valuations, SAA charts, transaction tables).</a:t>
            </a:r>
            <a:br/>
            <a:br/>
            <a:r>
              <a:t>RMs must manually deduce why portfolios shifted, how macro shocks transmit to multi-sleeve holdings, and what commercial action to take ('What should I do?').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C49825-2F7E-67E8-74DD-A504E1580345}"/>
              </a:ext>
            </a:extLst>
          </p:cNvPr>
          <p:cNvSpPr/>
          <p:nvPr/>
        </p:nvSpPr>
        <p:spPr>
          <a:xfrm>
            <a:off x="4343400" y="1645920"/>
            <a:ext cx="3429000" cy="429768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A04148-A24A-9F7B-B3F5-21ED6D819C85}"/>
              </a:ext>
            </a:extLst>
          </p:cNvPr>
          <p:cNvSpPr/>
          <p:nvPr/>
        </p:nvSpPr>
        <p:spPr>
          <a:xfrm>
            <a:off x="4343400" y="1645920"/>
            <a:ext cx="342900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19709-920F-6B72-9EF5-5748900C690C}"/>
              </a:ext>
            </a:extLst>
          </p:cNvPr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C1A30"/>
                </a:solidFill>
              </a:defRPr>
            </a:pPr>
            <a:r>
              <a:t>2. Hidden Multi-Sleeve Complexity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Clients hold segregated accounts (Discretionary, Advisory, Execution, Family Trusts).</a:t>
            </a:r>
            <a:br/>
            <a:br/>
            <a:r>
              <a:t>Critical risks (13%+ aggregated single-stock concentration, Lombard cross-collateral LTV, PE capital call shortfalls) are invisible in isolated views and only emerge when aggregated across all sleeves.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4C9287-D150-211D-D8A9-24E62CCC544B}"/>
              </a:ext>
            </a:extLst>
          </p:cNvPr>
          <p:cNvSpPr/>
          <p:nvPr/>
        </p:nvSpPr>
        <p:spPr>
          <a:xfrm>
            <a:off x="7955280" y="1645920"/>
            <a:ext cx="3429000" cy="429768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D4DD6-E4C3-9512-9368-A9D86B00F473}"/>
              </a:ext>
            </a:extLst>
          </p:cNvPr>
          <p:cNvSpPr/>
          <p:nvPr/>
        </p:nvSpPr>
        <p:spPr>
          <a:xfrm>
            <a:off x="7955280" y="1645920"/>
            <a:ext cx="3429000" cy="914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57A83-B85D-4DC8-C055-B14AB3B8F384}"/>
              </a:ext>
            </a:extLst>
          </p:cNvPr>
          <p:cNvSpPr txBox="1"/>
          <p:nvPr/>
        </p:nvSpPr>
        <p:spPr>
          <a:xfrm>
            <a:off x="8183880" y="1920240"/>
            <a:ext cx="2971800" cy="218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C1A30"/>
                </a:solidFill>
              </a:defRPr>
            </a:pPr>
            <a:r>
              <a:rPr dirty="0"/>
              <a:t>3. RM Cognitive Overload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Priscilla Ong manages 20 UHNW relationships ($</a:t>
            </a:r>
            <a:r>
              <a:rPr lang="en-US" dirty="0"/>
              <a:t>596</a:t>
            </a:r>
            <a:r>
              <a:rPr dirty="0"/>
              <a:t>M+ AUM) across 1,015 holdings, 5 macro shocks, and 28 informal CRM notes.</a:t>
            </a:r>
            <a:br>
              <a:rPr dirty="0"/>
            </a:br>
            <a:br>
              <a:rPr dirty="0"/>
            </a:br>
            <a:r>
              <a:rPr dirty="0"/>
              <a:t>Analyzing portfolios and preparing bespoke client meeting packs takes 4+ hours per client, severely capping RM scale and quality of advice.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8634E3-AF83-8C41-43D1-A28CA5304A5F}"/>
              </a:ext>
            </a:extLst>
          </p:cNvPr>
          <p:cNvSpPr txBox="1"/>
          <p:nvPr/>
        </p:nvSpPr>
        <p:spPr>
          <a:xfrm>
            <a:off x="6486144" y="6248400"/>
            <a:ext cx="504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Keywords: RM – Relationship Manager, SAA – Strategic Asset Allocation, CRM – Customer Relationship Management, PE – Private Equity, LTV – Loan to Value</a:t>
            </a:r>
          </a:p>
        </p:txBody>
      </p:sp>
    </p:spTree>
    <p:extLst>
      <p:ext uri="{BB962C8B-B14F-4D97-AF65-F5344CB8AC3E}">
        <p14:creationId xmlns:p14="http://schemas.microsoft.com/office/powerpoint/2010/main" val="258910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ENGINEERING METHODOLOGY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Approach: Spec-Driven Development (From Intelligence to Wealth)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3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29768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29000" cy="914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C1A30"/>
                </a:solidFill>
              </a:defRPr>
            </a:pPr>
            <a:r>
              <a:rPr dirty="0"/>
              <a:t>Phase 1: Deep Domain &amp; Data Analysis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rPr dirty="0"/>
              <a:t>• Comprehensive inspection of private banking data structures across 12 source files (clients, portfolios, 1,015 holdings, credit facilities, commitments, event log, unstructured RM notes).</a:t>
            </a:r>
            <a:br>
              <a:rPr dirty="0"/>
            </a:br>
            <a:r>
              <a:rPr dirty="0"/>
              <a:t>• Identified core traps: multi-portfolio mandate flattening and structured product look-through opacity.</a:t>
            </a:r>
            <a:br>
              <a:rPr dirty="0"/>
            </a:br>
            <a:r>
              <a:rPr dirty="0"/>
              <a:t>• Mapped high-touch RM commercial workflows for Asia Desks.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29768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2900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C1A30"/>
                </a:solidFill>
              </a:defRPr>
            </a:pPr>
            <a:r>
              <a:t>Phase 2: Multi-LLM Spec Synthesis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Requirements, constraints, and architecture were rigorously debated and authored collaboratively using Claude 3.7 Sonnet/Opus, ChatGPT-4o/o1, and Google Gemini 2.0 Pro.</a:t>
            </a:r>
            <a:br/>
            <a:r>
              <a:t>• Formally published as WEALTH_INTELLIGENCE_AGENT_SPEC.md.</a:t>
            </a:r>
            <a:br/>
            <a:r>
              <a:t>• Enforced architectural principle: Strict separation of deterministic compute from LLM reasoning.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29000" cy="429768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342900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C1A30"/>
                </a:solidFill>
              </a:defRPr>
            </a:pPr>
            <a:r>
              <a:t>Phase 3: Autonomous Agentic Build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Spec document fed into autonomous agentic coding workflows to implement modular specialist agents.</a:t>
            </a:r>
            <a:br/>
            <a:r>
              <a:t>• Engineered 6 specialist advisory agents (Rebalancing, Tax Optimization, Life Event Planning, Liquidity/Credit Risk, Market Impact, RM Qualitative Notes).</a:t>
            </a:r>
            <a:br/>
            <a:r>
              <a:t>• Built standardized JSON contracts, evidence citations, and temporal horizons.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CURRENT SYSTEM ARCHITECTURE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Current Setup: Three-Tier Agent Swarm &amp; Deterministic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4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72896"/>
            <a:ext cx="5900928" cy="137160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072896"/>
            <a:ext cx="109728" cy="13716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182624"/>
            <a:ext cx="5431536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C1A30"/>
                </a:solidFill>
              </a:defRPr>
            </a:pPr>
            <a:r>
              <a:rPr dirty="0"/>
              <a:t>Layer 1: Deterministic Analytics Engine (Zero Hallucination Core)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dirty="0"/>
              <a:t>Calculates SAA drift %, structured product look-through decomposition, consolidated Lombard LTV trajectory, PE capital call runway, and tax-loss harvesting lots mathematically using pure functional code before any LLM invocation.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29840"/>
            <a:ext cx="5900928" cy="2414782"/>
          </a:xfrm>
          <a:prstGeom prst="roundRect">
            <a:avLst>
              <a:gd name="adj" fmla="val 8589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566416"/>
            <a:ext cx="109728" cy="2378206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54224"/>
            <a:ext cx="5404946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C1A30"/>
                </a:solidFill>
              </a:defRPr>
            </a:pPr>
            <a:r>
              <a:rPr dirty="0"/>
              <a:t>Layer 2: Multi-Specialist Advisory Swarm (6 Specialized Micro-Agents)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dirty="0"/>
              <a:t>• Rebalancing Agent: Single &amp; cross-portfolio mandate breaches, trade sizing, phased execution horizon (2-4 </a:t>
            </a:r>
            <a:r>
              <a:rPr dirty="0" err="1"/>
              <a:t>wks</a:t>
            </a:r>
            <a:r>
              <a:rPr dirty="0"/>
              <a:t>)</a:t>
            </a:r>
            <a:br>
              <a:rPr dirty="0"/>
            </a:br>
            <a:r>
              <a:rPr dirty="0"/>
              <a:t>• Tax Optimization Agent: Loss harvesting offsets, domicile tax rules, tax year-end window (pre-31 Dec)</a:t>
            </a:r>
            <a:br>
              <a:rPr dirty="0"/>
            </a:br>
            <a:r>
              <a:rPr dirty="0"/>
              <a:t>• Life Event Planning Agent: Ring-fences committed cash buffers for dynamic milestone dates (e.g. property, tuition)</a:t>
            </a:r>
            <a:br>
              <a:rPr dirty="0"/>
            </a:br>
            <a:r>
              <a:rPr dirty="0"/>
              <a:t>• Liquidity &amp; Credit Risk Agent: Lombard LTV margin buffer remediation (48-72h) &amp; uncalled PE capital reserves</a:t>
            </a:r>
            <a:br>
              <a:rPr dirty="0"/>
            </a:br>
            <a:r>
              <a:rPr dirty="0"/>
              <a:t>• Market Impact Agent: Macro </a:t>
            </a:r>
            <a:r>
              <a:rPr dirty="0" err="1"/>
              <a:t>event_log</a:t>
            </a:r>
            <a:r>
              <a:rPr dirty="0"/>
              <a:t> transmission channels &amp; tactical hedging tenors (3-6 </a:t>
            </a:r>
            <a:r>
              <a:rPr dirty="0" err="1"/>
              <a:t>mos</a:t>
            </a:r>
            <a:r>
              <a:rPr dirty="0"/>
              <a:t>)</a:t>
            </a:r>
            <a:br>
              <a:rPr dirty="0"/>
            </a:br>
            <a:r>
              <a:rPr dirty="0"/>
              <a:t>• RM Notes &amp; Qualitative Agent: Unstructured CRM notes, standing exclusions &amp; permanent holding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10912"/>
            <a:ext cx="5900928" cy="1713290"/>
          </a:xfrm>
          <a:prstGeom prst="roundRect">
            <a:avLst>
              <a:gd name="adj" fmla="val 11686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5042158"/>
            <a:ext cx="109728" cy="163296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010912"/>
            <a:ext cx="4801682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C1A30"/>
                </a:solidFill>
              </a:defRPr>
            </a:pPr>
            <a:r>
              <a:rPr dirty="0"/>
              <a:t>Layer 3: Master Orchestrator &amp; Synergistic Synthesis Engine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dirty="0"/>
              <a:t>• Conflict Resolution: Resolves trade tensions (e.g. mandate trim vs. RM legacy holding override)</a:t>
            </a:r>
            <a:br>
              <a:rPr dirty="0"/>
            </a:br>
            <a:r>
              <a:rPr dirty="0"/>
              <a:t>• Comingling Opportunities: Clubs multi-agent actions into unified, cost-efficient client proposals</a:t>
            </a:r>
            <a:br>
              <a:rPr dirty="0"/>
            </a:br>
            <a:r>
              <a:rPr dirty="0"/>
              <a:t>• Composite Urgency Scoring (0-100) &amp; Point-in-Time Event Filtering: Highlights developments post last RM meeting</a:t>
            </a:r>
            <a:br>
              <a:rPr dirty="0"/>
            </a:br>
            <a:r>
              <a:rPr dirty="0"/>
              <a:t>• Meeting Pack Synthesis: Generates client-ready briefings, formal emails, and supervisory audit dossiers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019446-9B8C-3E77-8CB8-E2BC7D00C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054" y="1630482"/>
            <a:ext cx="5404946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TECH STACK COMPARISON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Technology Architecture: Current Prototype vs.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5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166360" cy="4480560"/>
          </a:xfrm>
          <a:prstGeom prst="roundRect">
            <a:avLst>
              <a:gd name="adj" fmla="val 6871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5166360" cy="914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188720"/>
            <a:ext cx="4709160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A30"/>
                </a:solidFill>
              </a:defRPr>
            </a:pPr>
            <a:r>
              <a:rPr dirty="0"/>
              <a:t>⚡ Current Hackathon Prototype Stack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b="1" dirty="0"/>
              <a:t>Frontend &amp; UI</a:t>
            </a:r>
            <a:r>
              <a:rPr sz="1200" dirty="0"/>
              <a:t>: </a:t>
            </a:r>
            <a:r>
              <a:rPr sz="1200" dirty="0" err="1"/>
              <a:t>Streamlit</a:t>
            </a:r>
            <a:r>
              <a:rPr sz="1200" dirty="0"/>
              <a:t> (Python 3.13) + Julius Baer Bespoke Luxury CSS Theme &amp; Design System.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b="1" dirty="0"/>
              <a:t>Agent Framework</a:t>
            </a:r>
            <a:r>
              <a:rPr sz="1200" dirty="0"/>
              <a:t>: Custom Multi-Agent Swarm with </a:t>
            </a:r>
            <a:r>
              <a:rPr sz="1200" dirty="0" err="1"/>
              <a:t>Pydantic</a:t>
            </a:r>
            <a:r>
              <a:rPr sz="1200" dirty="0"/>
              <a:t> State Schema &amp; Tool Execution Contracts.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b="1" dirty="0"/>
              <a:t>LLM Engine</a:t>
            </a:r>
            <a:r>
              <a:rPr sz="1200" dirty="0"/>
              <a:t>: </a:t>
            </a:r>
            <a:r>
              <a:rPr lang="en-US" sz="1200" dirty="0" err="1"/>
              <a:t>Groq</a:t>
            </a:r>
            <a:r>
              <a:rPr lang="en-US" sz="1200" dirty="0"/>
              <a:t>, </a:t>
            </a:r>
            <a:r>
              <a:rPr sz="1200" dirty="0"/>
              <a:t>Multi-Model Gateway (Claude 3.7 / OpenAI GPT-4o / Google Gemini API wrappers).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b="1" dirty="0"/>
              <a:t>Deterministic Analytics</a:t>
            </a:r>
            <a:r>
              <a:rPr sz="1200" dirty="0"/>
              <a:t>: Pure functional Python, NumPy, and Pandas calculation modules.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b="1" dirty="0"/>
              <a:t>Semantic Search / Vector Store</a:t>
            </a:r>
            <a:r>
              <a:rPr sz="1200" dirty="0"/>
              <a:t>: In-memory </a:t>
            </a:r>
            <a:r>
              <a:rPr sz="1200" dirty="0" err="1"/>
              <a:t>ChromaDB</a:t>
            </a:r>
            <a:r>
              <a:rPr sz="1200" dirty="0"/>
              <a:t> semantic index for RM notes and macro event log.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b="1" dirty="0"/>
              <a:t>Storage &amp; Repository</a:t>
            </a:r>
            <a:r>
              <a:rPr sz="1200" dirty="0"/>
              <a:t>: CSV/JSON relational repository with hierarchical entity graph (Client → Portfolios → Holdings).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b="1" dirty="0"/>
              <a:t>Governance &amp; Security</a:t>
            </a:r>
            <a:r>
              <a:rPr sz="1200" dirty="0"/>
              <a:t>: </a:t>
            </a:r>
            <a:r>
              <a:rPr sz="1200" dirty="0" err="1"/>
              <a:t>Streamlit</a:t>
            </a:r>
            <a:r>
              <a:rPr sz="1200" dirty="0"/>
              <a:t> session state approval cache with instant JSON audit log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212080" cy="4480560"/>
          </a:xfrm>
          <a:prstGeom prst="roundRect">
            <a:avLst>
              <a:gd name="adj" fmla="val 6055"/>
            </a:avLst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21208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475488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5A059"/>
                </a:solidFill>
              </a:defRPr>
            </a:pPr>
            <a:r>
              <a:rPr dirty="0"/>
              <a:t>🏛️ Proposed Enterprise Production Deployment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b="1" dirty="0"/>
              <a:t>Frontend</a:t>
            </a:r>
            <a:r>
              <a:rPr sz="1200" dirty="0"/>
              <a:t>: </a:t>
            </a:r>
            <a:r>
              <a:rPr sz="1200" dirty="0" err="1"/>
              <a:t>Next.js</a:t>
            </a:r>
            <a:r>
              <a:rPr sz="1200" dirty="0"/>
              <a:t> 15 / React 19 + Radix UI + Julius Baer EAM/RM Portal Micro-frontend integration.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rPr sz="1200" b="1" dirty="0"/>
              <a:t>• API &amp; Services</a:t>
            </a:r>
            <a:r>
              <a:rPr sz="1200" dirty="0"/>
              <a:t>: </a:t>
            </a:r>
            <a:r>
              <a:rPr sz="1200" dirty="0" err="1"/>
              <a:t>FastAPI</a:t>
            </a:r>
            <a:r>
              <a:rPr sz="1200" dirty="0"/>
              <a:t> / Async Python microservices with Ray / Celery Distributed Task Worker Clusters.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b="1" dirty="0"/>
              <a:t>Orchestration Engine</a:t>
            </a:r>
            <a:r>
              <a:rPr sz="1200" dirty="0"/>
              <a:t>: </a:t>
            </a:r>
            <a:r>
              <a:rPr sz="1200" dirty="0" err="1"/>
              <a:t>LangGraph</a:t>
            </a:r>
            <a:r>
              <a:rPr sz="1200" dirty="0"/>
              <a:t> Enterprise / Temporal Workflow Orchestrator with stateful checkpoints.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rPr sz="1200" b="1" dirty="0"/>
              <a:t>• LLM Gateway</a:t>
            </a:r>
            <a:r>
              <a:rPr sz="1200" dirty="0"/>
              <a:t>: Dedicated Private Azure OpenAI / AWS Bedrock VPC (Zero Data Retention) + On-Prem Air-Gapped SLM (Llama 3 70B / Mistral Large).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b="1" dirty="0"/>
              <a:t>Deterministic Kernel: </a:t>
            </a:r>
            <a:r>
              <a:rPr sz="1200" dirty="0"/>
              <a:t>High-performance C++ / Rust financial calculation engine (microsecond latency).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b="1" dirty="0"/>
              <a:t>Data Warehouse: </a:t>
            </a:r>
            <a:r>
              <a:rPr sz="1200" dirty="0"/>
              <a:t>Snowflake Data Cloud + </a:t>
            </a:r>
            <a:r>
              <a:rPr sz="1200" dirty="0" err="1"/>
              <a:t>TimescaleDB</a:t>
            </a:r>
            <a:r>
              <a:rPr sz="1200" dirty="0"/>
              <a:t> (time-series snapshots) + Milvus/</a:t>
            </a:r>
            <a:r>
              <a:rPr sz="1200" dirty="0" err="1"/>
              <a:t>pgvector</a:t>
            </a:r>
            <a:r>
              <a:rPr sz="1200" dirty="0"/>
              <a:t> Enterprise Vector DB.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b="1" dirty="0"/>
              <a:t>Security &amp; Compliance</a:t>
            </a:r>
            <a:r>
              <a:rPr sz="1200" dirty="0"/>
              <a:t>: Enterprise SAML/OIDC SSO, </a:t>
            </a:r>
            <a:r>
              <a:rPr sz="1200" dirty="0" err="1"/>
              <a:t>HashiCorp</a:t>
            </a:r>
            <a:r>
              <a:rPr sz="1200" dirty="0"/>
              <a:t> Vault, and Kafka immutable audit ledger for FINMA/MAS compliance.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4646D-12D5-45EC-833E-6069B786A02C}"/>
              </a:ext>
            </a:extLst>
          </p:cNvPr>
          <p:cNvSpPr txBox="1"/>
          <p:nvPr/>
        </p:nvSpPr>
        <p:spPr>
          <a:xfrm>
            <a:off x="731520" y="5541264"/>
            <a:ext cx="1072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i="1" dirty="0"/>
              <a:t>The prototype has been designed with a clean separation of concerns: our deterministic engine and </a:t>
            </a:r>
            <a:r>
              <a:rPr lang="en-SG" sz="1200" i="1" dirty="0" err="1"/>
              <a:t>Pydantic</a:t>
            </a:r>
            <a:r>
              <a:rPr lang="en-SG" sz="1200" i="1" dirty="0"/>
              <a:t> agent schemas map 1:1 to microservices. Transitioning to production simply means pointing the data layer to Julius Baer's Snowflake warehouse, running the agent graph on </a:t>
            </a:r>
            <a:r>
              <a:rPr lang="en-SG" sz="1200" i="1" dirty="0" err="1"/>
              <a:t>LangGraph</a:t>
            </a:r>
            <a:r>
              <a:rPr lang="en-SG" sz="1200" i="1" dirty="0"/>
              <a:t> Enterprise within their private Azure/AWS banking VPC, and embedding the front-end as a React widget inside the RM workstation—with zero changes to the underlying financial logic or governance guardrails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TRUST &amp; RISK CONTROLS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Enterprise Guardrails: Deterministic Compute, Four-Eyes Control &amp; Fallbacks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6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566160"/>
          </a:xfrm>
          <a:prstGeom prst="roundRect">
            <a:avLst>
              <a:gd name="adj" fmla="val 7778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29000" cy="914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C1A30"/>
                </a:solidFill>
              </a:defRPr>
            </a:pPr>
            <a:r>
              <a:rPr dirty="0"/>
              <a:t>a) Deterministic Layer (Zero Hallucination)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rPr dirty="0"/>
              <a:t>• Strict decoupling of compute from reasoning.</a:t>
            </a:r>
            <a:br>
              <a:rPr dirty="0"/>
            </a:br>
            <a:r>
              <a:rPr dirty="0"/>
              <a:t>• All drift %, LTV ratios, look-through weights, and cash runways are computed via pure immutable functions.</a:t>
            </a:r>
            <a:br>
              <a:rPr dirty="0"/>
            </a:br>
            <a:r>
              <a:rPr dirty="0"/>
              <a:t>• LLMs NEVER perform arithmetic; they only receive pre-verified metric facts as tool outputs and cite source function names and valuation 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3602736"/>
          </a:xfrm>
          <a:prstGeom prst="roundRect">
            <a:avLst>
              <a:gd name="adj" fmla="val 8489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2900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C1A30"/>
                </a:solidFill>
              </a:defRPr>
            </a:pPr>
            <a:r>
              <a:t>b) Maker-Checker Supervisory Control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Maker (RM Priscilla Ong): Reviews recommendations, customizes talking points, queues commercial actions.</a:t>
            </a:r>
            <a:br/>
            <a:r>
              <a:t>• Checker (Desk Head Marc Guggenheim DH-SG-001): 4-Point Supervisory Audit (KYC, Suitability, Exclusions, Cross-Border Fit).</a:t>
            </a:r>
            <a:br/>
            <a:r>
              <a:t>• Digital Endorsement Stamp &amp; SHA-256 audit token required before client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29000" cy="3602736"/>
          </a:xfrm>
          <a:prstGeom prst="roundRect">
            <a:avLst>
              <a:gd name="adj" fmla="val 8134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3429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C1A30"/>
                </a:solidFill>
              </a:defRPr>
            </a:pPr>
            <a:r>
              <a:t>c) Graceful Deterministic Fallback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100% LLM Outage &amp; Latency Resiliency.</a:t>
            </a:r>
            <a:br/>
            <a:r>
              <a:t>• If LLM APIs are offline, rate-limited, or latent, system automatically fails over to instant deterministic rule synthesis.</a:t>
            </a:r>
            <a:br/>
            <a:r>
              <a:t>• Produces complete, compliant, professional client recommendations and talking points deterministically without service disruption.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9EE68D-FA43-D6D9-7F3D-B14AA2CA95D5}"/>
              </a:ext>
            </a:extLst>
          </p:cNvPr>
          <p:cNvSpPr/>
          <p:nvPr/>
        </p:nvSpPr>
        <p:spPr>
          <a:xfrm>
            <a:off x="731520" y="5346192"/>
            <a:ext cx="10652760" cy="951506"/>
          </a:xfrm>
          <a:prstGeom prst="roundRect">
            <a:avLst>
              <a:gd name="adj" fmla="val 7778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BA9F3-6663-4297-5B6A-405D206938EB}"/>
              </a:ext>
            </a:extLst>
          </p:cNvPr>
          <p:cNvSpPr txBox="1"/>
          <p:nvPr/>
        </p:nvSpPr>
        <p:spPr>
          <a:xfrm>
            <a:off x="960120" y="5297424"/>
            <a:ext cx="1019556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C1A30"/>
                </a:solidFill>
              </a:defRPr>
            </a:pPr>
            <a:r>
              <a:rPr lang="en-US" dirty="0"/>
              <a:t>Other Security features</a:t>
            </a:r>
            <a:endParaRPr dirty="0"/>
          </a:p>
          <a:p>
            <a:pPr>
              <a:defRPr sz="115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lang="en-US" dirty="0"/>
              <a:t>Human Review | Presentation Privacy Mode | Role based governance and RLS (Row level Security) | Hard Constraint for Standing RM Notes | 1 Click Audit Trail | AI Explain</a:t>
            </a:r>
            <a:r>
              <a:rPr lang="en-SG" dirty="0"/>
              <a:t> 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rPr lang="en-SG" dirty="0"/>
              <a:t>• </a:t>
            </a:r>
            <a:r>
              <a:rPr lang="en-US" dirty="0"/>
              <a:t>Future Proposal : Agent swarm proposal challenger Agent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CORE CAPABILITIES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Innovation: Unmasking Invisible Cross-Portfolio &amp; Derivative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7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66360" cy="2810256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C1A30"/>
                </a:solidFill>
              </a:defRPr>
            </a:pPr>
            <a:r>
              <a:rPr dirty="0"/>
              <a:t>🔍 Look-Through Derivative Decomposition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Core banking systems only see the product wrapper ('FCN ref Basket A' or 'Asia </a:t>
            </a:r>
            <a:r>
              <a:rPr dirty="0" err="1"/>
              <a:t>Autocallable</a:t>
            </a:r>
            <a:r>
              <a:rPr dirty="0"/>
              <a:t>').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Our engine unpacks 'worst-of' structured notes into constituent single equities (e.g. Helios Cloud, Global Energy Majors).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Allocates fractional economic exposure dynamically to underlying asset classes and sectors.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Prevents unmonitored concentration build-up in volatile single names across advisory and execution sleeves.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810256"/>
          </a:xfrm>
          <a:prstGeom prst="roundRect">
            <a:avLst>
              <a:gd name="adj" fmla="val 7687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C1A30"/>
                </a:solidFill>
              </a:defRPr>
            </a:pPr>
            <a:r>
              <a:rPr dirty="0"/>
              <a:t>🌐 Whole-Client Risk Aggregation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Aggregate Concentration: 6% stock in Sleeve A + 7% in Sleeve B = 13% client-level breach (flagged as CONC_AGG).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Consolidated Lombard LTV: Combines collateral across all pledged sleeves against credit facility FAC-0001.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Liquidity Pool vs PE Deficits: Pools cash across sleeves to test against uncalled capital calls ($2.5M) and planned outflows.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Macro Shock Transmission: Aggregates client-wide exposure to oil, rates, semiconductors, and currency shifts.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58C40C-9B58-E4D3-E26B-1CE50CEBFA5A}"/>
              </a:ext>
            </a:extLst>
          </p:cNvPr>
          <p:cNvSpPr/>
          <p:nvPr/>
        </p:nvSpPr>
        <p:spPr>
          <a:xfrm>
            <a:off x="762000" y="4547616"/>
            <a:ext cx="10668000" cy="1633728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4F9D4-7C68-F9D3-58A8-A8B82572F67D}"/>
              </a:ext>
            </a:extLst>
          </p:cNvPr>
          <p:cNvSpPr txBox="1"/>
          <p:nvPr/>
        </p:nvSpPr>
        <p:spPr>
          <a:xfrm>
            <a:off x="1005840" y="4617720"/>
            <a:ext cx="10052304" cy="150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C1A30"/>
                </a:solidFill>
              </a:defRPr>
            </a:pPr>
            <a:r>
              <a:rPr dirty="0"/>
              <a:t>🔍 </a:t>
            </a:r>
            <a:r>
              <a:rPr lang="en-US" dirty="0"/>
              <a:t>Other Innovations</a:t>
            </a:r>
            <a:endParaRPr dirty="0"/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lang="en-SG" dirty="0"/>
              <a:t>Multi-Booking Centre &amp; Multi-Currency Engine, Multi-Jurisdiction Cross-Border Governance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lang="en-SG" dirty="0"/>
              <a:t>• Real-time trigger to Conversation Engine (partially built)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lang="en-SG" dirty="0"/>
              <a:t>• Portfolio Stress Testing Lab (partially built)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rPr lang="en-SG" dirty="0"/>
              <a:t>• Client Digital Twin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WORKED CLIENT CASE STUDY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Client Deep Dive: Cheung Kwok Wing (CL-0012) &amp; Hartono Kusuma (CL-0001)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8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480560"/>
          </a:xfrm>
          <a:prstGeom prst="roundRect">
            <a:avLst>
              <a:gd name="adj" fmla="val 6937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C1A30"/>
                </a:solidFill>
              </a:defRPr>
            </a:pPr>
            <a:r>
              <a:t>👤 Cheung Kwok Wing (CL-0012)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Age 71, retired in Hong Kong ($28.0M AUM).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Draws $1.1M/yr for living expenses.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RM Note: Explicitly stated he will NOT sell bonds at a loss.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Fixed income down -$5.6M due to rate hikes.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Longest bond matures in 2045: waiting for recovery is NOT a plan he can outlive.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480560"/>
          </a:xfrm>
          <a:prstGeom prst="roundRect">
            <a:avLst>
              <a:gd name="adj" fmla="val 6937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⚠️ Hartono Kusuma (CL-0001)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Age 34, Indonesian 2nd Gen ($46.6M across 2 portfolios).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41.4% concentrated in Bara Nusantara Energy across sleeves.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Lombard facility LTV reached 68.4% (near 70% margin call threshold).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Cross-portfolio look-through unmasks hidden aggregate risk invisible within individual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>
              <a:gd name="adj" fmla="val 8739"/>
            </a:avLst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5A059"/>
                </a:solidFill>
              </a:defRPr>
            </a:pPr>
            <a:r>
              <a:rPr dirty="0"/>
              <a:t>🎯 Client-Ready Solutions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• For Cheung Kwok Wing: Barbell reinvestment into 2Y Treasury ladder (5.1% yield) funding $1.1M income without 2045 duration risk.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• For Hartono Kusuma: Trim $2.4M of energy holding over 2-4 weeks to pay down Lombard debt (lowering LTV to safe 58%).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• Conversation Scripts: Empathetic, psychologically grounded talking points for Priscilla.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WORKED CLIENT CASE STUDY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Client Deep Dive: Kim Do-Yoon (CL-0015 — Tech Founder, $15.0M AUM)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9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480560"/>
          </a:xfrm>
          <a:prstGeom prst="roundRect">
            <a:avLst>
              <a:gd name="adj" fmla="val 8379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C1A30"/>
                </a:solidFill>
              </a:defRPr>
            </a:pPr>
            <a:r>
              <a:rPr dirty="0"/>
              <a:t>💼 The Client Situation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Age 38, Tech Entrepreneur ($15.0M AUM).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Wealth created via AI software startup Series C round.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High growth appetite, aggressive risk tolerance score.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rPr dirty="0"/>
              <a:t>• Committed $5.0M to Private Equity Growth Fund ($2.5M uncalled capital).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480560"/>
          </a:xfrm>
          <a:prstGeom prst="roundRect">
            <a:avLst>
              <a:gd name="adj" fmla="val 8379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🚨 Liquidity Shortfall Risk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Upcoming PE Capital Call: $1.2M due in Q4 2026.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Cash holdings in portfolio: only $340,000 (Deficit of -$860,000).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Portfolio heavily concentrated in illiquid unlisted shares (Aranya Tech) and structured autocallable notes.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Forced fire-sale risk if PE drawdowns accelerate.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>
              <a:gd name="adj" fmla="val 9099"/>
            </a:avLst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5A059"/>
                </a:solidFill>
              </a:defRPr>
            </a:pPr>
            <a:r>
              <a:t>💡 Tax-Aware Rebalancing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Tax-Aware Domicile Structuring: Rebalance with zero personal capital gains tax drag.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Structured Liquidity Buffer: Liquidate $1.0M of maturing Asian Bank Autocallables into money market funds.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Collateral Optimization: Pre-approve Lombard line against unlisted shares to establish a $1.5M credit liquidity backstop.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WORKBENCH INNOVATION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RM Workbench: Whole-Book Prioritization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10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840480" cy="448056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C1A30"/>
                </a:solidFill>
              </a:defRPr>
            </a:pPr>
            <a:r>
              <a:t>📊 Prioritization Algorithm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Composite Risk Score (0-100): Combines mandate breach severity, LTV margin call buffer, PE liquidity deficits, and days since last interaction.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Point-in-Time Last Meeting Filter: Focuses strictly on market events post-dating the last RM conversation.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Defensible Ranking: Priscilla knows exactly why Client #1 ranks ahead of Client #20 on her morning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554480"/>
            <a:ext cx="6583680" cy="4480560"/>
          </a:xfrm>
          <a:prstGeom prst="roundRect">
            <a:avLst>
              <a:gd name="adj" fmla="val 6871"/>
            </a:avLst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A30"/>
                </a:solidFill>
              </a:defRPr>
            </a:pPr>
            <a:r>
              <a:t>🏆 Priscilla's Morning Call Queue (Aug 26, 2026)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▶ Rank 1: Hartono Wijaya Kusuma ($46.6M | CL-0001)</a:t>
            </a:r>
            <a:br/>
            <a:r>
              <a:t>   Score 89 | Lombard LTV 68.4% (Near Margin Call) + 41.4% Energy Conc.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▶ Rank 2: Cheung Kwok Wing ($28.0M | CL-0012)</a:t>
            </a:r>
            <a:br/>
            <a:r>
              <a:t>   Score 86 | $5.6M Fixed Income Duration Deficit vs $1.1M/yr Cash Needs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▶ Rank 3: Kim Do-Yoon ($15.0M | CL-0015)</a:t>
            </a:r>
            <a:br/>
            <a:r>
              <a:t>   Score 84 | PE Capital Call Shortfall (-$860k) + Tech Concentration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▶ Rank 4: Fong Enterprises FO ($87.9M | CL-0017)</a:t>
            </a:r>
            <a:br/>
            <a:r>
              <a:t>   Score 78 | Cross-Portfolio Energy Overweight + SAA Drift Breaches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▶ Rank 5-20: Monitored Stable Book</a:t>
            </a:r>
            <a:br/>
            <a:r>
              <a:t>   Automated tracking; alerts triggered only on threshold breaches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t>USER EXPERIENCE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t>End-to-End Workflow: From Signal to Supervisory Endorsement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11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STAGE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64208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t>Step 1: Morning Priority Queue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Priscilla logs in → Book Overview → Top 5 prioritized clients flagged by composite urgency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1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450591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517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STAGE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60319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t>Step 2: Client 360 &amp; Stress Testing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Unpacks holdings, 5-snapshot trends, cross-portfolio LTV &amp; PE liquidity runways in interactive lab.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346704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478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STAGE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4564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t>Step 3: Specialist Agent Action Deck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Reviews multi-agent recommendations, customizes talking points, approves rebalancing 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42816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242816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44398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STAGE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52544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t>Step 4: Supervisory 4-Point Audit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Desk Head Marc Guggenheim executes four-eyes suitability audit and applies digital approval stamp.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38928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5138928"/>
            <a:ext cx="2011680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34009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STAGE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48656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t>Step 5: Client Meeting Pack Export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Exports branded Briefing Notes, Client Discussion Agenda, or Formal Advisory Email in 1 click.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E0319-176C-1EEE-A24E-57DC101C8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432F3-F452-1F02-FBCB-A754D6AF19DA}"/>
              </a:ext>
            </a:extLst>
          </p:cNvPr>
          <p:cNvSpPr txBox="1"/>
          <p:nvPr/>
        </p:nvSpPr>
        <p:spPr>
          <a:xfrm>
            <a:off x="731520" y="365760"/>
            <a:ext cx="10698480" cy="502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rPr lang="en-US" dirty="0"/>
              <a:t>NEXT STEPS</a:t>
            </a:r>
            <a:endParaRPr dirty="0"/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rPr lang="en-US" dirty="0"/>
              <a:t>Having come this far – what next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AF3D5-C593-B847-20FC-E43780AA38A5}"/>
              </a:ext>
            </a:extLst>
          </p:cNvPr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SingHacks 2026 — JB Pulse: AI-Powered Wealth Intelligence Cockpit | Confidential &amp; Proprietary | Slide 11 of 12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19DCC41-9980-45C1-08E2-65600FC5488A}"/>
              </a:ext>
            </a:extLst>
          </p:cNvPr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7B252-008A-E51D-502A-88734B48D883}"/>
              </a:ext>
            </a:extLst>
          </p:cNvPr>
          <p:cNvSpPr/>
          <p:nvPr/>
        </p:nvSpPr>
        <p:spPr>
          <a:xfrm>
            <a:off x="731520" y="1554480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4B3C0-4244-E734-A300-6547C1C1BAF4}"/>
              </a:ext>
            </a:extLst>
          </p:cNvPr>
          <p:cNvSpPr txBox="1"/>
          <p:nvPr/>
        </p:nvSpPr>
        <p:spPr>
          <a:xfrm>
            <a:off x="822960" y="1755648"/>
            <a:ext cx="1668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Security and Guardrails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6A14E-DE3E-8D97-DA56-A5E4351B4854}"/>
              </a:ext>
            </a:extLst>
          </p:cNvPr>
          <p:cNvSpPr txBox="1"/>
          <p:nvPr/>
        </p:nvSpPr>
        <p:spPr>
          <a:xfrm>
            <a:off x="2926080" y="1664208"/>
            <a:ext cx="8321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rPr dirty="0"/>
              <a:t>1: </a:t>
            </a:r>
            <a:r>
              <a:rPr lang="en-US" dirty="0"/>
              <a:t>Comprehensive Test Execution Agent</a:t>
            </a:r>
            <a:endParaRPr dirty="0"/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lang="en-US" dirty="0"/>
              <a:t>An end to end regression suite for all deterministic flows, right now has 16 tests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C1EEE96-839B-45D7-E852-EF583FFD2B9C}"/>
              </a:ext>
            </a:extLst>
          </p:cNvPr>
          <p:cNvSpPr/>
          <p:nvPr/>
        </p:nvSpPr>
        <p:spPr>
          <a:xfrm>
            <a:off x="731520" y="2450591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1ED48-4B60-E59D-D1BA-1874EBFA9A89}"/>
              </a:ext>
            </a:extLst>
          </p:cNvPr>
          <p:cNvSpPr/>
          <p:nvPr/>
        </p:nvSpPr>
        <p:spPr>
          <a:xfrm>
            <a:off x="731520" y="2450591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097CD-9395-392B-C9AD-20C4354DCAFD}"/>
              </a:ext>
            </a:extLst>
          </p:cNvPr>
          <p:cNvSpPr txBox="1"/>
          <p:nvPr/>
        </p:nvSpPr>
        <p:spPr>
          <a:xfrm>
            <a:off x="822960" y="2651759"/>
            <a:ext cx="13734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How are you sure?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665D2-9C9C-A374-1921-4EA9151084EE}"/>
              </a:ext>
            </a:extLst>
          </p:cNvPr>
          <p:cNvSpPr txBox="1"/>
          <p:nvPr/>
        </p:nvSpPr>
        <p:spPr>
          <a:xfrm>
            <a:off x="2926080" y="2560319"/>
            <a:ext cx="83210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rPr dirty="0"/>
              <a:t>2: </a:t>
            </a:r>
            <a:r>
              <a:rPr lang="en-US" dirty="0"/>
              <a:t>Challenger AI Agent</a:t>
            </a:r>
            <a:endParaRPr dirty="0"/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lang="en-SG" sz="1100" dirty="0">
                <a:solidFill>
                  <a:srgbClr val="1E293B"/>
                </a:solidFill>
              </a:rPr>
              <a:t>Independently stress-tests the Orchestration Agent’s recommended actions by questioning assumptions, identifying risks, conflicts, and missing client context</a:t>
            </a:r>
            <a:r>
              <a:rPr dirty="0"/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0F7170-1CA2-4DDB-DFBC-7FF9E3F2CB59}"/>
              </a:ext>
            </a:extLst>
          </p:cNvPr>
          <p:cNvSpPr/>
          <p:nvPr/>
        </p:nvSpPr>
        <p:spPr>
          <a:xfrm>
            <a:off x="731520" y="3346704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D25E9-84F5-3887-32D1-D96F64893421}"/>
              </a:ext>
            </a:extLst>
          </p:cNvPr>
          <p:cNvSpPr/>
          <p:nvPr/>
        </p:nvSpPr>
        <p:spPr>
          <a:xfrm>
            <a:off x="731520" y="3346704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4F003C-A5B8-614B-19B3-327991449F8D}"/>
              </a:ext>
            </a:extLst>
          </p:cNvPr>
          <p:cNvSpPr txBox="1"/>
          <p:nvPr/>
        </p:nvSpPr>
        <p:spPr>
          <a:xfrm>
            <a:off x="822960" y="3547872"/>
            <a:ext cx="142135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Get me the money!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604443-DF2D-44A2-2310-7A4B46C72F6B}"/>
              </a:ext>
            </a:extLst>
          </p:cNvPr>
          <p:cNvSpPr txBox="1"/>
          <p:nvPr/>
        </p:nvSpPr>
        <p:spPr>
          <a:xfrm>
            <a:off x="2926080" y="3456432"/>
            <a:ext cx="83210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rPr dirty="0"/>
              <a:t>3: </a:t>
            </a:r>
            <a:r>
              <a:rPr lang="en-US" dirty="0"/>
              <a:t>Market Outlook and Future Horizon Agent</a:t>
            </a:r>
            <a:endParaRPr dirty="0"/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lang="en-SG" dirty="0"/>
              <a:t>Market Outlook &amp; Future Horizon Agent ingests and continuously interprets in-house research, investment views and forward-looking market signals to understand their implications across asset classes, sectors and themes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59FB25-18F2-A768-EA6F-12E300189174}"/>
              </a:ext>
            </a:extLst>
          </p:cNvPr>
          <p:cNvSpPr/>
          <p:nvPr/>
        </p:nvSpPr>
        <p:spPr>
          <a:xfrm>
            <a:off x="731520" y="4242816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F89068-CC25-DB61-55B4-911B2DDCCC13}"/>
              </a:ext>
            </a:extLst>
          </p:cNvPr>
          <p:cNvSpPr/>
          <p:nvPr/>
        </p:nvSpPr>
        <p:spPr>
          <a:xfrm>
            <a:off x="731520" y="4242816"/>
            <a:ext cx="2011680" cy="77724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BEC7-967E-FE13-CD93-618FEC1D86E1}"/>
              </a:ext>
            </a:extLst>
          </p:cNvPr>
          <p:cNvSpPr txBox="1"/>
          <p:nvPr/>
        </p:nvSpPr>
        <p:spPr>
          <a:xfrm>
            <a:off x="822960" y="4443984"/>
            <a:ext cx="15725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Explain your proposal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F2A977-16FC-DEFB-99BE-56F64D3DA73E}"/>
              </a:ext>
            </a:extLst>
          </p:cNvPr>
          <p:cNvSpPr txBox="1"/>
          <p:nvPr/>
        </p:nvSpPr>
        <p:spPr>
          <a:xfrm>
            <a:off x="2926080" y="4352544"/>
            <a:ext cx="83210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rPr dirty="0"/>
              <a:t>4: </a:t>
            </a:r>
            <a:r>
              <a:rPr lang="en-US" dirty="0"/>
              <a:t>Back Testing Model</a:t>
            </a:r>
            <a:endParaRPr dirty="0"/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lang="en-US" dirty="0"/>
              <a:t>Integrate with historical market data API provider to ingest market data and back test the effect of a proposal – like investing in JPY Equities during JPY Interest rate surge</a:t>
            </a:r>
            <a:r>
              <a:rPr dirty="0"/>
              <a:t>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2469812-4E9F-84B8-17EF-ED9F74F67253}"/>
              </a:ext>
            </a:extLst>
          </p:cNvPr>
          <p:cNvSpPr/>
          <p:nvPr/>
        </p:nvSpPr>
        <p:spPr>
          <a:xfrm>
            <a:off x="731520" y="5138928"/>
            <a:ext cx="10698480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384325-1934-78A2-B084-A24EA9F007A1}"/>
              </a:ext>
            </a:extLst>
          </p:cNvPr>
          <p:cNvSpPr/>
          <p:nvPr/>
        </p:nvSpPr>
        <p:spPr>
          <a:xfrm>
            <a:off x="731520" y="5138928"/>
            <a:ext cx="2011680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5A9303-5E8E-9159-944A-F7F3602A8A0C}"/>
              </a:ext>
            </a:extLst>
          </p:cNvPr>
          <p:cNvSpPr txBox="1"/>
          <p:nvPr/>
        </p:nvSpPr>
        <p:spPr>
          <a:xfrm>
            <a:off x="822960" y="5340096"/>
            <a:ext cx="15222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Explainable AI Query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49105D-C056-6D02-D2E5-49FB50D6E7FB}"/>
              </a:ext>
            </a:extLst>
          </p:cNvPr>
          <p:cNvSpPr txBox="1"/>
          <p:nvPr/>
        </p:nvSpPr>
        <p:spPr>
          <a:xfrm>
            <a:off x="2926080" y="5248656"/>
            <a:ext cx="8321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1A30"/>
                </a:solidFill>
              </a:defRPr>
            </a:pPr>
            <a:r>
              <a:rPr dirty="0"/>
              <a:t>5: </a:t>
            </a:r>
            <a:r>
              <a:rPr lang="en-US" dirty="0"/>
              <a:t>Challenge and verify AI Suggestion</a:t>
            </a:r>
            <a:endParaRPr dirty="0"/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lang="en-US" dirty="0"/>
              <a:t>Any AI Recommendation can be reverse queried using the Recommendation id PKG-SYN-CL-0012-01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8850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813357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</a:defRPr>
            </a:pPr>
            <a:r>
              <a:rPr dirty="0"/>
              <a:t>STRATEGIC IMPACT • SINGHA</a:t>
            </a:r>
            <a:r>
              <a:rPr lang="en-US" dirty="0"/>
              <a:t>CKS</a:t>
            </a:r>
            <a:r>
              <a:rPr dirty="0"/>
              <a:t>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Empowering the RM: The Future of Private Wealth Advisory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57800" cy="2011680"/>
          </a:xfrm>
          <a:prstGeom prst="roundRect">
            <a:avLst/>
          </a:prstGeom>
          <a:solidFill>
            <a:srgbClr val="142A4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5A059"/>
                </a:solidFill>
              </a:defRPr>
            </a:pPr>
            <a:r>
              <a:t>⏱️ 10x Advisory Productivity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Cuts RM meeting preparation time from 4 hours to 15 minutes per client. RMs can scale from 20 to 50+ HNW relationships without sacrificing bespoke intimacy.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2011680"/>
          </a:xfrm>
          <a:prstGeom prst="roundRect">
            <a:avLst/>
          </a:prstGeom>
          <a:solidFill>
            <a:srgbClr val="142A4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5A059"/>
                </a:solidFill>
              </a:defRPr>
            </a:pPr>
            <a:r>
              <a:t>🛡️ Zero-Defect Risk Governance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Deterministic guardrails eliminate compliance drift, unmonitored margin calls, and unauthorized trades. Every action has an immutable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011680"/>
          </a:xfrm>
          <a:prstGeom prst="roundRect">
            <a:avLst/>
          </a:prstGeom>
          <a:solidFill>
            <a:srgbClr val="142A4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5A059"/>
                </a:solidFill>
              </a:defRPr>
            </a:pPr>
            <a:r>
              <a:t>💡 Measurable Alpha &amp; Fee Retention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Proactive tax-loss harvesting and liquidity management turn defensive portfolio management into high-value advisory dialogue.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011680"/>
          </a:xfrm>
          <a:prstGeom prst="roundRect">
            <a:avLst/>
          </a:prstGeom>
          <a:solidFill>
            <a:srgbClr val="142A4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5A059"/>
                </a:solidFill>
              </a:defRPr>
            </a:pPr>
            <a:r>
              <a:t>🤝 Trust &amp; Human Centrality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AI amplifies rather than replaces the Relationship Manager. Julius Baer retains its core heritage: high-touch human relationships powered by world-class intelligence.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3D21F3-D675-CECD-423F-6342D702414F}"/>
              </a:ext>
            </a:extLst>
          </p:cNvPr>
          <p:cNvSpPr txBox="1"/>
          <p:nvPr/>
        </p:nvSpPr>
        <p:spPr>
          <a:xfrm>
            <a:off x="5205984" y="3145536"/>
            <a:ext cx="586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797501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1593C-3A2B-69DE-DC8F-04C30EE1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DD55C-29B5-D180-2101-E7BCDB0D357D}"/>
              </a:ext>
            </a:extLst>
          </p:cNvPr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rPr dirty="0"/>
              <a:t>CURRENT SYSTEM ARCHITECTURE</a:t>
            </a:r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rPr dirty="0"/>
              <a:t>Current Setup: Three-Tier Agent Swarm &amp; Deterministic Orchestration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FEF41-0B8C-FAFE-9435-6C578348B871}"/>
              </a:ext>
            </a:extLst>
          </p:cNvPr>
          <p:cNvSpPr txBox="1"/>
          <p:nvPr/>
        </p:nvSpPr>
        <p:spPr>
          <a:xfrm>
            <a:off x="329184" y="999744"/>
            <a:ext cx="116555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Key Components &amp; Structural Breakdown</a:t>
            </a:r>
          </a:p>
          <a:p>
            <a:r>
              <a:rPr lang="en-SG" sz="900" dirty="0"/>
              <a:t>1. Specialist Agent Swarm (</a:t>
            </a:r>
            <a:r>
              <a:rPr lang="en-SG" sz="900" dirty="0" err="1"/>
              <a:t>src</a:t>
            </a:r>
            <a:r>
              <a:rPr lang="en-SG" sz="900" dirty="0"/>
              <a:t>/</a:t>
            </a:r>
            <a:r>
              <a:rPr lang="en-SG" sz="900" dirty="0" err="1"/>
              <a:t>specialist_agents.py</a:t>
            </a:r>
            <a:r>
              <a:rPr lang="en-SG" sz="900" dirty="0"/>
              <a:t>)</a:t>
            </a:r>
          </a:p>
          <a:p>
            <a:r>
              <a:rPr lang="en-SG" sz="900" dirty="0"/>
              <a:t>Each specialist agent focuses on a single domain using deterministic calculations from </a:t>
            </a:r>
            <a:r>
              <a:rPr lang="en-SG" sz="900" dirty="0" err="1"/>
              <a:t>DeterministicAnalytics</a:t>
            </a:r>
            <a:r>
              <a:rPr lang="en-SG" sz="900" dirty="0"/>
              <a:t>:</a:t>
            </a:r>
          </a:p>
          <a:p>
            <a:pPr lvl="0"/>
            <a:r>
              <a:rPr lang="en-SG" sz="900" b="1" dirty="0" err="1"/>
              <a:t>RebalancingAgent</a:t>
            </a:r>
            <a:r>
              <a:rPr lang="en-SG" sz="900" dirty="0"/>
              <a:t>: Evaluates asset allocation drift, single-instrument concentration breaches, and cash mandate boundaries.</a:t>
            </a:r>
          </a:p>
          <a:p>
            <a:pPr lvl="0"/>
            <a:r>
              <a:rPr lang="en-SG" sz="900" b="1" dirty="0" err="1"/>
              <a:t>TaxOptimizationAgent</a:t>
            </a:r>
            <a:r>
              <a:rPr lang="en-SG" sz="900" dirty="0"/>
              <a:t>: Scans unrealized loss lots for tax-loss harvesting based on jurisdictional rules (e.g., US 30-day wash-sale, UK CGT allowances).</a:t>
            </a:r>
          </a:p>
          <a:p>
            <a:pPr lvl="0"/>
            <a:r>
              <a:rPr lang="en-SG" sz="900" b="1" dirty="0" err="1"/>
              <a:t>LifeEventPlanningAgent</a:t>
            </a:r>
            <a:r>
              <a:rPr lang="en-SG" sz="900" dirty="0"/>
              <a:t>: Flags upcoming milestone outflows (e.g., real estate, tuition, estate transfers) and computes ring-fencing timelines.</a:t>
            </a:r>
          </a:p>
          <a:p>
            <a:pPr lvl="0"/>
            <a:r>
              <a:rPr lang="en-SG" sz="900" b="1" dirty="0" err="1"/>
              <a:t>LiquidityCreditRiskAgent</a:t>
            </a:r>
            <a:r>
              <a:rPr lang="en-SG" sz="900" dirty="0"/>
              <a:t>: Monitors Lombard lending facilities, LTV covenant margin buffers, and capital call coverage.</a:t>
            </a:r>
          </a:p>
          <a:p>
            <a:pPr lvl="0"/>
            <a:r>
              <a:rPr lang="en-SG" sz="900" b="1" dirty="0" err="1"/>
              <a:t>MarketImpactAgent</a:t>
            </a:r>
            <a:r>
              <a:rPr lang="en-SG" sz="900" dirty="0"/>
              <a:t>: </a:t>
            </a:r>
            <a:r>
              <a:rPr lang="en-SG" sz="900" dirty="0" err="1"/>
              <a:t>Analyzes</a:t>
            </a:r>
            <a:r>
              <a:rPr lang="en-SG" sz="900" dirty="0"/>
              <a:t> 2026 macro events from </a:t>
            </a:r>
          </a:p>
          <a:p>
            <a:pPr lvl="0"/>
            <a:r>
              <a:rPr lang="en-SG" sz="900" dirty="0" err="1"/>
              <a:t>event_log.csv</a:t>
            </a:r>
            <a:r>
              <a:rPr lang="en-SG" sz="900" dirty="0"/>
              <a:t> and calculates portfolio shock transmission.</a:t>
            </a:r>
          </a:p>
          <a:p>
            <a:pPr lvl="0"/>
            <a:r>
              <a:rPr lang="en-SG" sz="900" b="1" dirty="0" err="1"/>
              <a:t>RMNotesAgent</a:t>
            </a:r>
            <a:r>
              <a:rPr lang="en-SG" sz="900" dirty="0"/>
              <a:t>: Parses qualitative meeting notes for standing constraints, emotional biases (loss aversion), and legacy holding exclusions.</a:t>
            </a:r>
          </a:p>
          <a:p>
            <a:br>
              <a:rPr lang="en-SG" sz="900" dirty="0"/>
            </a:br>
            <a:endParaRPr lang="en-SG" sz="900" dirty="0"/>
          </a:p>
          <a:p>
            <a:r>
              <a:rPr lang="en-SG" sz="900" dirty="0"/>
              <a:t>2. Master Orchestrator (</a:t>
            </a:r>
            <a:r>
              <a:rPr lang="en-SG" sz="900" dirty="0" err="1"/>
              <a:t>src</a:t>
            </a:r>
            <a:r>
              <a:rPr lang="en-SG" sz="900" dirty="0"/>
              <a:t>/</a:t>
            </a:r>
            <a:r>
              <a:rPr lang="en-SG" sz="900" dirty="0" err="1"/>
              <a:t>orchestrator.py</a:t>
            </a:r>
            <a:r>
              <a:rPr lang="en-SG" sz="900" dirty="0"/>
              <a:t>)</a:t>
            </a:r>
          </a:p>
          <a:p>
            <a:r>
              <a:rPr lang="en-SG" sz="900" dirty="0"/>
              <a:t>The </a:t>
            </a:r>
            <a:r>
              <a:rPr lang="en-SG" sz="900" b="1" dirty="0" err="1"/>
              <a:t>ClientOrchestrator</a:t>
            </a:r>
            <a:r>
              <a:rPr lang="en-SG" sz="900" dirty="0"/>
              <a:t> ingests raw specialist proposals and coordinates the multi-agent synthesis:</a:t>
            </a:r>
          </a:p>
          <a:p>
            <a:r>
              <a:rPr lang="en-SG" sz="900" b="1" dirty="0"/>
              <a:t>A. De-Duplication Engine (_</a:t>
            </a:r>
            <a:r>
              <a:rPr lang="en-SG" sz="900" b="1" dirty="0" err="1"/>
              <a:t>deduplicate_and_synthesize_recs</a:t>
            </a:r>
            <a:r>
              <a:rPr lang="en-SG" sz="900" b="1" dirty="0"/>
              <a:t>)</a:t>
            </a:r>
          </a:p>
          <a:p>
            <a:pPr lvl="0"/>
            <a:r>
              <a:rPr lang="en-SG" sz="900" b="1" dirty="0"/>
              <a:t>Role:</a:t>
            </a:r>
            <a:r>
              <a:rPr lang="en-SG" sz="900" dirty="0"/>
              <a:t> Eliminates noise and redundant alerts across agents.</a:t>
            </a:r>
          </a:p>
          <a:p>
            <a:pPr lvl="0"/>
            <a:r>
              <a:rPr lang="en-SG" sz="900" b="1" dirty="0"/>
              <a:t>How it works:</a:t>
            </a:r>
            <a:r>
              <a:rPr lang="en-SG" sz="900" dirty="0"/>
              <a:t> When both the </a:t>
            </a:r>
            <a:r>
              <a:rPr lang="en-SG" sz="900" dirty="0" err="1"/>
              <a:t>RebalancingAgent</a:t>
            </a:r>
            <a:r>
              <a:rPr lang="en-SG" sz="900" dirty="0"/>
              <a:t> and the </a:t>
            </a:r>
            <a:r>
              <a:rPr lang="en-SG" sz="900" dirty="0" err="1"/>
              <a:t>MarketImpactAgent</a:t>
            </a:r>
            <a:r>
              <a:rPr lang="en-SG" sz="900" dirty="0"/>
              <a:t> trigger actions on the same asset class or holding (e.g., energy/commodities trim), the Orchestrator absorbs the market shock transmission into the rebalancing rationale and suppresses redundant standalone market alerts.</a:t>
            </a:r>
          </a:p>
          <a:p>
            <a:r>
              <a:rPr lang="en-SG" sz="900" b="1" dirty="0"/>
              <a:t>B. Conflict Detection &amp; Resolution Engine (_</a:t>
            </a:r>
            <a:r>
              <a:rPr lang="en-SG" sz="900" b="1" dirty="0" err="1"/>
              <a:t>detect_conflicts</a:t>
            </a:r>
            <a:r>
              <a:rPr lang="en-SG" sz="900" b="1" dirty="0"/>
              <a:t>)</a:t>
            </a:r>
          </a:p>
          <a:p>
            <a:pPr lvl="0"/>
            <a:r>
              <a:rPr lang="en-SG" sz="900" b="1" dirty="0"/>
              <a:t>Role:</a:t>
            </a:r>
            <a:r>
              <a:rPr lang="en-SG" sz="900" dirty="0"/>
              <a:t> Surfaces contradictions between quantitative mandates and client constraints.</a:t>
            </a:r>
          </a:p>
          <a:p>
            <a:pPr lvl="0"/>
            <a:r>
              <a:rPr lang="en-SG" sz="900" b="1" dirty="0"/>
              <a:t>Key Capabilities:</a:t>
            </a:r>
            <a:endParaRPr lang="en-SG" sz="900" dirty="0"/>
          </a:p>
          <a:p>
            <a:pPr lvl="1"/>
            <a:r>
              <a:rPr lang="en-SG" sz="900" b="1" dirty="0"/>
              <a:t>Mandate Rebalance vs. Standing Constraint:</a:t>
            </a:r>
            <a:r>
              <a:rPr lang="en-SG" sz="900" dirty="0"/>
              <a:t> Detects when a rebalancing trim targets a restricted legacy holding (e.g., CL-0001 Bara Nusantara Energy).</a:t>
            </a:r>
          </a:p>
          <a:p>
            <a:pPr lvl="1"/>
            <a:r>
              <a:rPr lang="en-SG" sz="900" b="1" dirty="0"/>
              <a:t>Bidirectional Linking:</a:t>
            </a:r>
            <a:r>
              <a:rPr lang="en-SG" sz="900" dirty="0"/>
              <a:t> Cross-references </a:t>
            </a:r>
            <a:r>
              <a:rPr lang="en-SG" sz="900" dirty="0" err="1"/>
              <a:t>rec_a</a:t>
            </a:r>
            <a:r>
              <a:rPr lang="en-SG" sz="900" dirty="0"/>
              <a:t> and </a:t>
            </a:r>
            <a:r>
              <a:rPr lang="en-SG" sz="900" dirty="0" err="1"/>
              <a:t>rec_b</a:t>
            </a:r>
            <a:r>
              <a:rPr lang="en-SG" sz="900" dirty="0"/>
              <a:t> via </a:t>
            </a:r>
            <a:r>
              <a:rPr lang="en-SG" sz="900" dirty="0" err="1"/>
              <a:t>conflicts_with</a:t>
            </a:r>
            <a:r>
              <a:rPr lang="en-SG" sz="900" dirty="0"/>
              <a:t>.</a:t>
            </a:r>
          </a:p>
          <a:p>
            <a:pPr lvl="1"/>
            <a:r>
              <a:rPr lang="en-SG" sz="900" b="1" dirty="0"/>
              <a:t>Actionable Governance Resolution:</a:t>
            </a:r>
            <a:r>
              <a:rPr lang="en-SG" sz="900" dirty="0"/>
              <a:t> Formulates documented trade-offs and recommends structured resolutions (e.g., </a:t>
            </a:r>
            <a:r>
              <a:rPr lang="en-SG" sz="900" i="1" dirty="0"/>
              <a:t>“Maintain strategic holding under suitability waiver; rebalance surrounding liquid sleeves”</a:t>
            </a:r>
            <a:r>
              <a:rPr lang="en-SG" sz="900" dirty="0"/>
              <a:t>).</a:t>
            </a:r>
          </a:p>
          <a:p>
            <a:r>
              <a:rPr lang="en-SG" sz="900" b="1" dirty="0"/>
              <a:t>C. Synergistic Comingling Engine (_</a:t>
            </a:r>
            <a:r>
              <a:rPr lang="en-SG" sz="900" b="1" dirty="0" err="1"/>
              <a:t>detect_comingling_opportunities</a:t>
            </a:r>
            <a:r>
              <a:rPr lang="en-SG" sz="900" b="1" dirty="0"/>
              <a:t>)</a:t>
            </a:r>
          </a:p>
          <a:p>
            <a:pPr lvl="0"/>
            <a:r>
              <a:rPr lang="en-SG" sz="900" b="1" dirty="0"/>
              <a:t>Role:</a:t>
            </a:r>
            <a:r>
              <a:rPr lang="en-SG" sz="900" dirty="0"/>
              <a:t> Packages discrete, multi-agent actions into a unified client strategy.</a:t>
            </a:r>
          </a:p>
          <a:p>
            <a:pPr lvl="0"/>
            <a:r>
              <a:rPr lang="en-SG" sz="900" b="1" dirty="0"/>
              <a:t>Conflict Integration:</a:t>
            </a:r>
            <a:endParaRPr lang="en-SG" sz="900" dirty="0"/>
          </a:p>
          <a:p>
            <a:pPr lvl="1"/>
            <a:r>
              <a:rPr lang="en-SG" sz="900" dirty="0"/>
              <a:t>Separates </a:t>
            </a:r>
            <a:r>
              <a:rPr lang="en-SG" sz="900" b="1" dirty="0"/>
              <a:t>liquid rebalancing trims</a:t>
            </a:r>
            <a:r>
              <a:rPr lang="en-SG" sz="900" dirty="0"/>
              <a:t> (Global Equity, Credit) from </a:t>
            </a:r>
            <a:r>
              <a:rPr lang="en-SG" sz="900" b="1" dirty="0"/>
              <a:t>conflict-reconciled assets</a:t>
            </a:r>
            <a:r>
              <a:rPr lang="en-SG" sz="900" dirty="0"/>
              <a:t> (Bara Nusantara Energy).</a:t>
            </a:r>
          </a:p>
          <a:p>
            <a:pPr lvl="1"/>
            <a:r>
              <a:rPr lang="en-SG" sz="900" dirty="0"/>
              <a:t>Clubs liquid trims, tax-loss harvesting, milestone funding, and cash fortification into a single holistic proposal.</a:t>
            </a:r>
          </a:p>
          <a:p>
            <a:pPr lvl="1"/>
            <a:r>
              <a:rPr lang="en-SG" sz="900" dirty="0"/>
              <a:t>Generates unified private banking talking points, synchronized execution timelines (e.g., 30-day window), and a dedicated ⚖️ Conflict Reconciled badge in the UI.</a:t>
            </a:r>
          </a:p>
          <a:p>
            <a:r>
              <a:rPr lang="en-SG" sz="900" b="1" dirty="0"/>
              <a:t>D. Cross-Specialist Optimization Engine (_</a:t>
            </a:r>
            <a:r>
              <a:rPr lang="en-SG" sz="900" b="1" dirty="0" err="1"/>
              <a:t>detect_cross_specialist_optimizations</a:t>
            </a:r>
            <a:r>
              <a:rPr lang="en-SG" sz="900" b="1" dirty="0"/>
              <a:t>)</a:t>
            </a:r>
          </a:p>
          <a:p>
            <a:pPr lvl="0"/>
            <a:r>
              <a:rPr lang="en-SG" sz="900" b="1" dirty="0"/>
              <a:t>Role:</a:t>
            </a:r>
            <a:r>
              <a:rPr lang="en-SG" sz="900" dirty="0"/>
              <a:t> Uncovers high-alpha, cross-sleeve optimizations that no single specialist could see in isolation:</a:t>
            </a:r>
          </a:p>
          <a:p>
            <a:pPr lvl="1"/>
            <a:r>
              <a:rPr lang="en-SG" sz="900" b="1" dirty="0"/>
              <a:t>Cross-Sleeve Tax-Alpha Matrix:</a:t>
            </a:r>
            <a:r>
              <a:rPr lang="en-SG" sz="900" dirty="0"/>
              <a:t> Synchronizes capital gains rebalancing with loss harvesting across portfolios to eliminate tax drag.</a:t>
            </a:r>
          </a:p>
          <a:p>
            <a:pPr lvl="1"/>
            <a:r>
              <a:rPr lang="en-SG" sz="900" b="1" dirty="0"/>
              <a:t>Staged Liquidity Immunization:</a:t>
            </a:r>
            <a:r>
              <a:rPr lang="en-SG" sz="900" dirty="0"/>
              <a:t> Creates dynamic short-duration Treasury sweeps to eliminate ~45–60 bps of cash drag while guaranteeing milestone coverage.</a:t>
            </a:r>
          </a:p>
          <a:p>
            <a:pPr lvl="1"/>
            <a:r>
              <a:rPr lang="en-SG" sz="900" b="1" dirty="0"/>
              <a:t>Collateral Downside Shield:</a:t>
            </a:r>
            <a:r>
              <a:rPr lang="en-SG" sz="900" dirty="0"/>
              <a:t> Applies duration/volatility collars to credit collateral assets to preserve Lombard LTV headroom.</a:t>
            </a:r>
          </a:p>
          <a:p>
            <a:pPr lvl="1"/>
            <a:r>
              <a:rPr lang="en-SG" sz="900" b="1" dirty="0"/>
              <a:t>Fixed Income Duration Barbell &amp; Income Shield (e.g., CL-0012):</a:t>
            </a:r>
            <a:r>
              <a:rPr lang="en-SG" sz="900" dirty="0"/>
              <a:t> Constructs a 2-Year US Treasury ladder (~5.1% yield) to fund living expenses without selling underwater 2045 long-duration bonds at a loss.</a:t>
            </a:r>
          </a:p>
          <a:p>
            <a:br>
              <a:rPr lang="en-SG" sz="900" dirty="0"/>
            </a:br>
            <a:endParaRPr lang="en-SG" sz="900" dirty="0"/>
          </a:p>
          <a:p>
            <a:r>
              <a:rPr lang="en-SG" sz="900" dirty="0"/>
              <a:t>3. Dual-Path Execution (LLM Intelligence + Deterministic Fallback)</a:t>
            </a:r>
          </a:p>
          <a:p>
            <a:pPr lvl="0"/>
            <a:r>
              <a:rPr lang="en-SG" sz="900" b="1" dirty="0"/>
              <a:t>Live LLM Orchestration:</a:t>
            </a:r>
            <a:r>
              <a:rPr lang="en-SG" sz="900" dirty="0"/>
              <a:t> When an LLM API key is present, </a:t>
            </a:r>
          </a:p>
          <a:p>
            <a:pPr lvl="0"/>
            <a:r>
              <a:rPr lang="en-SG" sz="900" dirty="0"/>
              <a:t>_</a:t>
            </a:r>
            <a:r>
              <a:rPr lang="en-SG" sz="900" dirty="0" err="1"/>
              <a:t>run_llm_orchestrator</a:t>
            </a:r>
            <a:r>
              <a:rPr lang="en-SG" sz="900" dirty="0"/>
              <a:t> reasons across all specialist inputs using Julius Baer CIO persona prompts.</a:t>
            </a:r>
          </a:p>
          <a:p>
            <a:pPr lvl="0"/>
            <a:r>
              <a:rPr lang="en-SG" sz="900" b="1" dirty="0"/>
              <a:t>Deterministic Rule Fallback:</a:t>
            </a:r>
            <a:r>
              <a:rPr lang="en-SG" sz="900" dirty="0"/>
              <a:t> When LLM is offline or in mock mode, the deterministic rule engine executes identical de-duplication, conflict detection, comingling synthesis, and cross-specialist optimization pipelines with 100%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255537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95AD5-679E-AAC3-D25C-A083D2606965}"/>
              </a:ext>
            </a:extLst>
          </p:cNvPr>
          <p:cNvSpPr txBox="1"/>
          <p:nvPr/>
        </p:nvSpPr>
        <p:spPr>
          <a:xfrm>
            <a:off x="731520" y="365760"/>
            <a:ext cx="10698480" cy="502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A059"/>
                </a:solidFill>
              </a:defRPr>
            </a:pPr>
            <a:r>
              <a:rPr lang="en-US" dirty="0"/>
              <a:t>Data Issues</a:t>
            </a:r>
            <a:endParaRPr dirty="0"/>
          </a:p>
          <a:p>
            <a:pPr>
              <a:defRPr sz="2100" b="1">
                <a:solidFill>
                  <a:srgbClr val="0C1A30"/>
                </a:solidFill>
              </a:defRPr>
            </a:pPr>
            <a:r>
              <a:rPr lang="en-US" dirty="0"/>
              <a:t>Data Issues identified and handled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D169E-20EF-A998-C09E-D13AF13EBF70}"/>
              </a:ext>
            </a:extLst>
          </p:cNvPr>
          <p:cNvSpPr txBox="1"/>
          <p:nvPr/>
        </p:nvSpPr>
        <p:spPr>
          <a:xfrm>
            <a:off x="950976" y="1219200"/>
            <a:ext cx="8302752" cy="4523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C9ACA-E10F-6402-495E-BF9545BA8BD2}"/>
              </a:ext>
            </a:extLst>
          </p:cNvPr>
          <p:cNvSpPr txBox="1"/>
          <p:nvPr/>
        </p:nvSpPr>
        <p:spPr>
          <a:xfrm>
            <a:off x="731520" y="1024128"/>
            <a:ext cx="1080211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800" b="1" dirty="0"/>
              <a:t>Corporate &amp; Family Office Entities (Missing Demographics)</a:t>
            </a:r>
          </a:p>
          <a:p>
            <a:r>
              <a:rPr lang="en-US" sz="800" dirty="0"/>
              <a:t>The Imperfection: Institutional vehicles and family offices (e.g., Fong Enterprises Family Office / CL-0004) have age = </a:t>
            </a:r>
            <a:r>
              <a:rPr lang="en-US" sz="800" dirty="0" err="1"/>
              <a:t>NaN</a:t>
            </a:r>
            <a:r>
              <a:rPr lang="en-US" sz="800" dirty="0"/>
              <a:t> and gender = </a:t>
            </a:r>
            <a:r>
              <a:rPr lang="en-US" sz="800" dirty="0" err="1"/>
              <a:t>NaN</a:t>
            </a:r>
            <a:r>
              <a:rPr lang="en-US" sz="800" dirty="0"/>
              <a:t>.</a:t>
            </a:r>
          </a:p>
          <a:p>
            <a:r>
              <a:rPr lang="en-US" sz="800" dirty="0"/>
              <a:t>The Risk: Naive systems crash with </a:t>
            </a:r>
            <a:r>
              <a:rPr lang="en-US" sz="800" dirty="0" err="1"/>
              <a:t>ValueError</a:t>
            </a:r>
            <a:r>
              <a:rPr lang="en-US" sz="800" dirty="0"/>
              <a:t>: cannot convert float </a:t>
            </a:r>
            <a:r>
              <a:rPr lang="en-US" sz="800" dirty="0" err="1"/>
              <a:t>NaN</a:t>
            </a:r>
            <a:r>
              <a:rPr lang="en-US" sz="800" dirty="0"/>
              <a:t> to integer or display awkward labels like "</a:t>
            </a:r>
            <a:r>
              <a:rPr lang="en-US" sz="800" dirty="0" err="1"/>
              <a:t>NaN</a:t>
            </a:r>
            <a:r>
              <a:rPr lang="en-US" sz="800" dirty="0"/>
              <a:t> years old".</a:t>
            </a:r>
          </a:p>
          <a:p>
            <a:r>
              <a:rPr lang="en-US" sz="800" dirty="0"/>
              <a:t>Thoughtful Handling:</a:t>
            </a:r>
          </a:p>
          <a:p>
            <a:r>
              <a:rPr lang="en-US" sz="800" dirty="0"/>
              <a:t>Polymorphic Client Profiles: The data and UI layers check for missing demographic attributes and render Corporate Entity / Family Office or Institutional Mandate instead of attempting numeric conversions.</a:t>
            </a:r>
          </a:p>
          <a:p>
            <a:r>
              <a:rPr lang="en-US" sz="800" dirty="0"/>
              <a:t>Entity-Aware KYC: KYC review cycles are evaluated against corporate regulatory timelines rather than human life stages.</a:t>
            </a:r>
          </a:p>
          <a:p>
            <a:endParaRPr lang="en-US" sz="800" dirty="0"/>
          </a:p>
          <a:p>
            <a:r>
              <a:rPr lang="en-US" sz="800" b="1" dirty="0"/>
              <a:t>2. Structured Products &amp; "Worst-Of" Basket Look-Throughs</a:t>
            </a:r>
          </a:p>
          <a:p>
            <a:r>
              <a:rPr lang="en-US" sz="800" dirty="0"/>
              <a:t>The Imperfection: Complex derivatives (FCNs, </a:t>
            </a:r>
            <a:r>
              <a:rPr lang="en-US" sz="800" dirty="0" err="1"/>
              <a:t>Autocallables</a:t>
            </a:r>
            <a:r>
              <a:rPr lang="en-US" sz="800" dirty="0"/>
              <a:t>, Accumulators) have sector = </a:t>
            </a:r>
            <a:r>
              <a:rPr lang="en-US" sz="800" dirty="0" err="1"/>
              <a:t>NaN</a:t>
            </a:r>
            <a:r>
              <a:rPr lang="en-US" sz="800" dirty="0"/>
              <a:t> or composite text strings in </a:t>
            </a:r>
            <a:r>
              <a:rPr lang="en-US" sz="800" dirty="0" err="1"/>
              <a:t>underlying_reference</a:t>
            </a:r>
            <a:r>
              <a:rPr lang="en-US" sz="800" dirty="0"/>
              <a:t> (e.g., "Worst-of basket: Global Energy Majors ADR / Gulf Marine Services / Helios Cloud Systems").</a:t>
            </a:r>
          </a:p>
          <a:p>
            <a:r>
              <a:rPr lang="en-US" sz="800" dirty="0"/>
              <a:t>The Risk: Core banking treats the structured note as a generic "Structured Product" wrapper, completely blinding the RM and risk system to the underlying concentration in Helios or Energy.</a:t>
            </a:r>
          </a:p>
          <a:p>
            <a:r>
              <a:rPr lang="en-US" sz="800" dirty="0"/>
              <a:t>Thoughtful Handling:</a:t>
            </a:r>
          </a:p>
          <a:p>
            <a:r>
              <a:rPr lang="en-US" sz="800" dirty="0"/>
              <a:t>Deterministic Look-Through Decomposition: </a:t>
            </a:r>
          </a:p>
          <a:p>
            <a:r>
              <a:rPr lang="en-US" sz="800" dirty="0" err="1"/>
              <a:t>resolve_look_through</a:t>
            </a:r>
            <a:r>
              <a:rPr lang="en-US" sz="800" dirty="0"/>
              <a:t>() parses underlying tickers and divides economic exposure across the basket components.</a:t>
            </a:r>
          </a:p>
          <a:p>
            <a:r>
              <a:rPr lang="en-US" sz="800" dirty="0"/>
              <a:t>Multi-Asset Tagging: Replaces missing GICS sectors with synthetic sector tags derived from the basket's underlying constituents.</a:t>
            </a:r>
          </a:p>
          <a:p>
            <a:endParaRPr lang="en-US" sz="800" dirty="0"/>
          </a:p>
          <a:p>
            <a:r>
              <a:rPr lang="en-US" sz="800" b="1" dirty="0"/>
              <a:t>3. Ledger Transactions Without Instrument IDs (Fees &amp; Cash Moves)</a:t>
            </a:r>
          </a:p>
          <a:p>
            <a:r>
              <a:rPr lang="en-US" sz="800" dirty="0"/>
              <a:t>The Imperfection: 65 transaction records (Management Fee, Interest Charge, Facility Drawdown, Withdrawal, Transfer In) naturally have </a:t>
            </a:r>
            <a:r>
              <a:rPr lang="en-US" sz="800" dirty="0" err="1"/>
              <a:t>instrument_id</a:t>
            </a:r>
            <a:r>
              <a:rPr lang="en-US" sz="800" dirty="0"/>
              <a:t> = </a:t>
            </a:r>
            <a:r>
              <a:rPr lang="en-US" sz="800" dirty="0" err="1"/>
              <a:t>NaN</a:t>
            </a:r>
            <a:r>
              <a:rPr lang="en-US" sz="800" dirty="0"/>
              <a:t> and </a:t>
            </a:r>
            <a:r>
              <a:rPr lang="en-US" sz="800" dirty="0" err="1"/>
              <a:t>instrument_name</a:t>
            </a:r>
            <a:r>
              <a:rPr lang="en-US" sz="800" dirty="0"/>
              <a:t> = </a:t>
            </a:r>
            <a:r>
              <a:rPr lang="en-US" sz="800" dirty="0" err="1"/>
              <a:t>NaN</a:t>
            </a:r>
            <a:r>
              <a:rPr lang="en-US" sz="800" dirty="0"/>
              <a:t>.</a:t>
            </a:r>
          </a:p>
          <a:p>
            <a:r>
              <a:rPr lang="en-US" sz="800" dirty="0"/>
              <a:t>The Risk: Relational SQL inner joins to </a:t>
            </a:r>
            <a:r>
              <a:rPr lang="en-US" sz="800" dirty="0" err="1"/>
              <a:t>instruments.csv</a:t>
            </a:r>
            <a:r>
              <a:rPr lang="en-US" sz="800" dirty="0"/>
              <a:t> silently drop 16.5% of all client ledger entries, distorting cash reconciliations.</a:t>
            </a:r>
          </a:p>
          <a:p>
            <a:r>
              <a:rPr lang="en-US" sz="800" dirty="0"/>
              <a:t>Thoughtful Handling:</a:t>
            </a:r>
          </a:p>
          <a:p>
            <a:r>
              <a:rPr lang="en-US" sz="800" dirty="0"/>
              <a:t>Dual-Track Transaction Processing: The data layer separates Securities Trades (requiring instrument metadata) from Cash Flow &amp; Custody Events (keyed on </a:t>
            </a:r>
            <a:r>
              <a:rPr lang="en-US" sz="800" dirty="0" err="1"/>
              <a:t>portfolio_id</a:t>
            </a:r>
            <a:r>
              <a:rPr lang="en-US" sz="800" dirty="0"/>
              <a:t> and </a:t>
            </a:r>
            <a:r>
              <a:rPr lang="en-US" sz="800" dirty="0" err="1"/>
              <a:t>transaction_type</a:t>
            </a:r>
            <a:r>
              <a:rPr lang="en-US" sz="800" dirty="0"/>
              <a:t>).</a:t>
            </a:r>
          </a:p>
          <a:p>
            <a:r>
              <a:rPr lang="en-US" sz="800" dirty="0"/>
              <a:t>Explicit Fallbacks: Automatically formats descriptions like [Custody/Fee] USD -24,500.00 from narrative fields.</a:t>
            </a:r>
          </a:p>
          <a:p>
            <a:endParaRPr lang="en-US" sz="800" dirty="0"/>
          </a:p>
          <a:p>
            <a:r>
              <a:rPr lang="en-US" sz="800" b="1" dirty="0"/>
              <a:t>4. Cash Holdings Without Cost Basis or Unrealized </a:t>
            </a:r>
            <a:r>
              <a:rPr lang="en-US" sz="800" b="1" dirty="0" err="1"/>
              <a:t>PnL</a:t>
            </a:r>
            <a:endParaRPr lang="en-US" sz="800" b="1" dirty="0"/>
          </a:p>
          <a:p>
            <a:r>
              <a:rPr lang="en-US" sz="800" dirty="0"/>
              <a:t>The Imperfection: Pure cash deposits (USD, SGD, CHF, EUR) have </a:t>
            </a:r>
            <a:r>
              <a:rPr lang="en-US" sz="800" dirty="0" err="1"/>
              <a:t>cost_basis_base</a:t>
            </a:r>
            <a:r>
              <a:rPr lang="en-US" sz="800" dirty="0"/>
              <a:t> = </a:t>
            </a:r>
            <a:r>
              <a:rPr lang="en-US" sz="800" dirty="0" err="1"/>
              <a:t>NaN</a:t>
            </a:r>
            <a:r>
              <a:rPr lang="en-US" sz="800" dirty="0"/>
              <a:t> and </a:t>
            </a:r>
            <a:r>
              <a:rPr lang="en-US" sz="800" dirty="0" err="1"/>
              <a:t>unrealised_pnl_base</a:t>
            </a:r>
            <a:r>
              <a:rPr lang="en-US" sz="800" dirty="0"/>
              <a:t> = </a:t>
            </a:r>
            <a:r>
              <a:rPr lang="en-US" sz="800" dirty="0" err="1"/>
              <a:t>NaN</a:t>
            </a:r>
            <a:r>
              <a:rPr lang="en-US" sz="800" dirty="0"/>
              <a:t> in </a:t>
            </a:r>
            <a:r>
              <a:rPr lang="en-US" sz="800" dirty="0" err="1"/>
              <a:t>holdings.csv</a:t>
            </a:r>
            <a:r>
              <a:rPr lang="en-US" sz="800" dirty="0"/>
              <a:t>.</a:t>
            </a:r>
          </a:p>
          <a:p>
            <a:r>
              <a:rPr lang="en-US" sz="800" dirty="0"/>
              <a:t>The Risk: Tax-loss harvesting engines or </a:t>
            </a:r>
            <a:r>
              <a:rPr lang="en-US" sz="800" dirty="0" err="1"/>
              <a:t>PnL</a:t>
            </a:r>
            <a:r>
              <a:rPr lang="en-US" sz="800" dirty="0"/>
              <a:t> aggregators fail on null arithmetic or misidentify cash as an unpriced illiquid asset.</a:t>
            </a:r>
          </a:p>
          <a:p>
            <a:r>
              <a:rPr lang="en-US" sz="800" dirty="0"/>
              <a:t>Thoughtful Handling:</a:t>
            </a:r>
          </a:p>
          <a:p>
            <a:r>
              <a:rPr lang="en-US" sz="800" dirty="0"/>
              <a:t>Asset-Class Specific Calculation: Cash holdings are explicitly isolated (</a:t>
            </a:r>
            <a:r>
              <a:rPr lang="en-US" sz="800" dirty="0" err="1"/>
              <a:t>asset_class</a:t>
            </a:r>
            <a:r>
              <a:rPr lang="en-US" sz="800" dirty="0"/>
              <a:t> == 'Cash &amp; Liquidity') and treated with a fixed zero unrealized capital gain (</a:t>
            </a:r>
            <a:r>
              <a:rPr lang="en-US" sz="800" dirty="0" err="1"/>
              <a:t>PnL</a:t>
            </a:r>
            <a:r>
              <a:rPr lang="en-US" sz="800" dirty="0"/>
              <a:t> = 0.00, Cost Basis = Market Value).</a:t>
            </a:r>
          </a:p>
          <a:p>
            <a:r>
              <a:rPr lang="en-US" sz="800" dirty="0"/>
              <a:t>Tax Exempt Treatment: Automatically categorized as tax-neutral liquidity in </a:t>
            </a:r>
          </a:p>
          <a:p>
            <a:endParaRPr lang="en-US" sz="800" dirty="0"/>
          </a:p>
          <a:p>
            <a:r>
              <a:rPr lang="en-US" sz="800" b="1" dirty="0"/>
              <a:t>5. Point-in-Time Temporal Leakage (Look-Ahead Bias)</a:t>
            </a:r>
          </a:p>
          <a:p>
            <a:r>
              <a:rPr lang="en-US" sz="800" dirty="0"/>
              <a:t>The Imperfection: Historical databases store future events, notes, and market snapshots on the same table.</a:t>
            </a:r>
          </a:p>
          <a:p>
            <a:r>
              <a:rPr lang="en-US" sz="800" dirty="0"/>
              <a:t>The Risk: If an RM or auditor reviews a March 2026 snapshot, an AI model might cite an event or note written in August 2026 (a serious compliance violation).</a:t>
            </a:r>
          </a:p>
          <a:p>
            <a:r>
              <a:rPr lang="en-US" sz="800" dirty="0"/>
              <a:t>Thoughtful Handling:</a:t>
            </a:r>
          </a:p>
          <a:p>
            <a:r>
              <a:rPr lang="en-US" sz="800" dirty="0"/>
              <a:t>Strict Snapshot Upper-Bounding: All data access functions (</a:t>
            </a:r>
            <a:r>
              <a:rPr lang="en-US" sz="800" dirty="0" err="1"/>
              <a:t>get_rm_notes</a:t>
            </a:r>
            <a:r>
              <a:rPr lang="en-US" sz="800" dirty="0"/>
              <a:t>, </a:t>
            </a:r>
            <a:r>
              <a:rPr lang="en-US" sz="800" dirty="0" err="1"/>
              <a:t>match_events_to_holdings</a:t>
            </a:r>
            <a:r>
              <a:rPr lang="en-US" sz="800" dirty="0"/>
              <a:t>, </a:t>
            </a:r>
            <a:r>
              <a:rPr lang="en-US" sz="800" dirty="0" err="1"/>
              <a:t>compute_ltv</a:t>
            </a:r>
            <a:r>
              <a:rPr lang="en-US" sz="800" dirty="0"/>
              <a:t>) enforce </a:t>
            </a:r>
            <a:r>
              <a:rPr lang="en-US" sz="800" dirty="0" err="1"/>
              <a:t>event_date</a:t>
            </a:r>
            <a:r>
              <a:rPr lang="en-US" sz="800" dirty="0"/>
              <a:t> &lt;= </a:t>
            </a:r>
            <a:r>
              <a:rPr lang="en-US" sz="800" dirty="0" err="1"/>
              <a:t>snapshot_date</a:t>
            </a:r>
            <a:r>
              <a:rPr lang="en-US" sz="800" dirty="0"/>
              <a:t> and </a:t>
            </a:r>
            <a:r>
              <a:rPr lang="en-US" sz="800" dirty="0" err="1"/>
              <a:t>note_date</a:t>
            </a:r>
            <a:r>
              <a:rPr lang="en-US" sz="800" dirty="0"/>
              <a:t> &lt;= </a:t>
            </a:r>
            <a:r>
              <a:rPr lang="en-US" sz="800" dirty="0" err="1"/>
              <a:t>snapshot_date</a:t>
            </a:r>
            <a:r>
              <a:rPr lang="en-US" sz="800" dirty="0"/>
              <a:t>.</a:t>
            </a:r>
          </a:p>
          <a:p>
            <a:r>
              <a:rPr lang="en-US" sz="800" dirty="0"/>
              <a:t>Authoritative Event Source: 2026 market developments are strictly bounded by </a:t>
            </a:r>
            <a:r>
              <a:rPr lang="en-US" sz="800" dirty="0" err="1"/>
              <a:t>event_log.csv</a:t>
            </a:r>
            <a:r>
              <a:rPr lang="en-US" sz="800" dirty="0"/>
              <a:t> up to the selected point-in-time date.</a:t>
            </a:r>
          </a:p>
          <a:p>
            <a:endParaRPr lang="en-US" sz="800" dirty="0"/>
          </a:p>
          <a:p>
            <a:r>
              <a:rPr lang="en-US" sz="800" b="1" dirty="0"/>
              <a:t>6. Unstructured RM Notes with Negative Constraints &amp; Verbal Refusals</a:t>
            </a:r>
          </a:p>
          <a:p>
            <a:r>
              <a:rPr lang="en-US" sz="800" dirty="0"/>
              <a:t>The Imperfection: RM notes contain free-form natural language with informal overrides ("Client refused tech ideas", "Do not sell Indonesian coal holding", "Daughter's tuition needed in Q3").</a:t>
            </a:r>
          </a:p>
          <a:p>
            <a:r>
              <a:rPr lang="en-US" sz="800" dirty="0"/>
              <a:t>The Risk: Algorithmic rebalancers generate mathematically optimal trades that directly violate explicit verbal client instructions.</a:t>
            </a:r>
          </a:p>
          <a:p>
            <a:r>
              <a:rPr lang="en-US" sz="800" dirty="0"/>
              <a:t>Thoughtful Handling:</a:t>
            </a:r>
          </a:p>
          <a:p>
            <a:r>
              <a:rPr lang="en-US" sz="800" dirty="0"/>
              <a:t>Standing Override Extraction: </a:t>
            </a:r>
          </a:p>
          <a:p>
            <a:r>
              <a:rPr lang="en-US" sz="800" dirty="0" err="1"/>
              <a:t>get_rm_notes</a:t>
            </a:r>
            <a:r>
              <a:rPr lang="en-US" sz="800" dirty="0"/>
              <a:t>() systematically extracts hard constraints into the deterministic state.</a:t>
            </a:r>
          </a:p>
          <a:p>
            <a:r>
              <a:rPr lang="en-US" sz="800" dirty="0"/>
              <a:t>Negative Guardrails in LLM Prompts: Extracted standing constraints are passed as high-priority constraints to all specialist agents and the </a:t>
            </a:r>
            <a:r>
              <a:rPr lang="en-US" sz="800" dirty="0" err="1"/>
              <a:t>MasterOrchestrator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386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4229</Words>
  <Application>Microsoft Macintosh PowerPoint</Application>
  <PresentationFormat>Widescreen</PresentationFormat>
  <Paragraphs>268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Avijit Ghosh</cp:lastModifiedBy>
  <cp:revision>24</cp:revision>
  <dcterms:created xsi:type="dcterms:W3CDTF">2013-01-27T09:14:16Z</dcterms:created>
  <dcterms:modified xsi:type="dcterms:W3CDTF">2026-09-05T08:35:13Z</dcterms:modified>
  <cp:category/>
</cp:coreProperties>
</file>