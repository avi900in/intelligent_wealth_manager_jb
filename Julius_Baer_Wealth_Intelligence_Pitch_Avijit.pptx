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8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9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51"/>
  </p:normalViewPr>
  <p:slideViewPr>
    <p:cSldViewPr snapToGrid="0" snapToObjects="1">
      <p:cViewPr varScale="1">
        <p:scale>
          <a:sx n="105" d="100"/>
          <a:sy n="105" d="100"/>
        </p:scale>
        <p:origin x="74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1554480"/>
            <a:ext cx="109728" cy="356616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1554480"/>
            <a:ext cx="9601200" cy="22749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C5A059"/>
                </a:solidFill>
              </a:defRPr>
            </a:pPr>
            <a:r>
              <a:rPr dirty="0"/>
              <a:t>BANK JULIUS BAER • SINGHA</a:t>
            </a:r>
            <a:r>
              <a:rPr lang="en-US" dirty="0"/>
              <a:t>CKS</a:t>
            </a:r>
            <a:r>
              <a:rPr dirty="0"/>
              <a:t> 2026 CHALLENGE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rPr dirty="0"/>
              <a:t>JB Pulse — Wealth Intelligence Cockpit</a:t>
            </a:r>
          </a:p>
          <a:p>
            <a:pPr>
              <a:spcAft>
                <a:spcPts val="1400"/>
              </a:spcAft>
              <a:defRPr sz="2200" b="1">
                <a:solidFill>
                  <a:srgbClr val="C5A059"/>
                </a:solidFill>
              </a:defRPr>
            </a:pPr>
            <a:r>
              <a:rPr lang="en-SG" dirty="0"/>
              <a:t>Where Insight Becomes Foresight</a:t>
            </a:r>
            <a:endParaRPr dirty="0"/>
          </a:p>
          <a:p>
            <a:pPr>
              <a:spcAft>
                <a:spcPts val="2200"/>
              </a:spcAft>
              <a:defRPr sz="1600">
                <a:solidFill>
                  <a:srgbClr val="CBD5E1"/>
                </a:solidFill>
              </a:defRPr>
            </a:pPr>
            <a:r>
              <a:rPr dirty="0"/>
              <a:t>Explainable Multi-Agent Advisory with Deterministic Financial Guardrails &amp; Four-Eyes Governance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rPr dirty="0"/>
              <a:t>Spec-Driven Engineering • 6 Specialist Agents • Look-Through Risk • 100% LLM Outage Resiliency • Maker-Checker Sign-off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rPr dirty="0"/>
              <a:t>THE </a:t>
            </a:r>
            <a:r>
              <a:rPr lang="en-US" dirty="0"/>
              <a:t>TEAM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2 of 12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E09777B-4FC4-B498-CEBC-C0BE406C6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630" y="519648"/>
            <a:ext cx="3866362" cy="539394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DCBC935-6810-7070-9DD6-7C1672858F1F}"/>
              </a:ext>
            </a:extLst>
          </p:cNvPr>
          <p:cNvSpPr txBox="1"/>
          <p:nvPr/>
        </p:nvSpPr>
        <p:spPr>
          <a:xfrm>
            <a:off x="1595374" y="3031954"/>
            <a:ext cx="2048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Gemini Antigravity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607E1C-66C7-8790-E8CD-8FA3A55D89FC}"/>
              </a:ext>
            </a:extLst>
          </p:cNvPr>
          <p:cNvSpPr txBox="1"/>
          <p:nvPr/>
        </p:nvSpPr>
        <p:spPr>
          <a:xfrm>
            <a:off x="7593558" y="2870630"/>
            <a:ext cx="1404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Claude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1B7ED-DA5A-5E78-77A0-FF43F3104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773D66-23E2-2995-EAB9-D99FE79DCD57}"/>
              </a:ext>
            </a:extLst>
          </p:cNvPr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THE PROBLEM STATEMENT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The Private Banking Challenge: The 'Advisory Gap'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E7EF01-D3D9-DEC4-0DC5-0605FA52F0E2}"/>
              </a:ext>
            </a:extLst>
          </p:cNvPr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2 of 12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DBC3429-B72C-7532-BB6C-00054D514414}"/>
              </a:ext>
            </a:extLst>
          </p:cNvPr>
          <p:cNvSpPr/>
          <p:nvPr/>
        </p:nvSpPr>
        <p:spPr>
          <a:xfrm>
            <a:off x="731520" y="1645920"/>
            <a:ext cx="3429000" cy="429768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11776B-9FD5-9FAC-EF2E-DBD585F9504B}"/>
              </a:ext>
            </a:extLst>
          </p:cNvPr>
          <p:cNvSpPr/>
          <p:nvPr/>
        </p:nvSpPr>
        <p:spPr>
          <a:xfrm>
            <a:off x="731520" y="1645920"/>
            <a:ext cx="3429000" cy="914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644447-A8B3-8427-F783-5F97AB58C8F6}"/>
              </a:ext>
            </a:extLst>
          </p:cNvPr>
          <p:cNvSpPr txBox="1"/>
          <p:nvPr/>
        </p:nvSpPr>
        <p:spPr>
          <a:xfrm>
            <a:off x="96012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C1A30"/>
                </a:solidFill>
              </a:defRPr>
            </a:pPr>
            <a:r>
              <a:t>1. Descriptive, Not Advisory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Current digital tools stop at descriptive reporting ('What is' — valuations, SAA charts, transaction tables).</a:t>
            </a:r>
            <a:br/>
            <a:br/>
            <a:r>
              <a:t>RMs must manually deduce why portfolios shifted, how macro shocks transmit to multi-sleeve holdings, and what commercial action to take ('What should I do?').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EC49825-2F7E-67E8-74DD-A504E1580345}"/>
              </a:ext>
            </a:extLst>
          </p:cNvPr>
          <p:cNvSpPr/>
          <p:nvPr/>
        </p:nvSpPr>
        <p:spPr>
          <a:xfrm>
            <a:off x="4343400" y="1645920"/>
            <a:ext cx="3429000" cy="429768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A04148-A24A-9F7B-B3F5-21ED6D819C85}"/>
              </a:ext>
            </a:extLst>
          </p:cNvPr>
          <p:cNvSpPr/>
          <p:nvPr/>
        </p:nvSpPr>
        <p:spPr>
          <a:xfrm>
            <a:off x="4343400" y="1645920"/>
            <a:ext cx="3429000" cy="914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B19709-920F-6B72-9EF5-5748900C690C}"/>
              </a:ext>
            </a:extLst>
          </p:cNvPr>
          <p:cNvSpPr txBox="1"/>
          <p:nvPr/>
        </p:nvSpPr>
        <p:spPr>
          <a:xfrm>
            <a:off x="457200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C1A30"/>
                </a:solidFill>
              </a:defRPr>
            </a:pPr>
            <a:r>
              <a:t>2. Hidden Multi-Sleeve Complexity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t>Clients hold segregated accounts (Discretionary, Advisory, Execution, Family Trusts).</a:t>
            </a:r>
            <a:br/>
            <a:br/>
            <a:r>
              <a:t>Critical risks (13%+ aggregated single-stock concentration, Lombard cross-collateral LTV, PE capital call shortfalls) are invisible in isolated views and only emerge when aggregated across all sleeves.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24C9287-D150-211D-D8A9-24E62CCC544B}"/>
              </a:ext>
            </a:extLst>
          </p:cNvPr>
          <p:cNvSpPr/>
          <p:nvPr/>
        </p:nvSpPr>
        <p:spPr>
          <a:xfrm>
            <a:off x="7955280" y="1645920"/>
            <a:ext cx="3429000" cy="429768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9D4DD6-E4C3-9512-9368-A9D86B00F473}"/>
              </a:ext>
            </a:extLst>
          </p:cNvPr>
          <p:cNvSpPr/>
          <p:nvPr/>
        </p:nvSpPr>
        <p:spPr>
          <a:xfrm>
            <a:off x="7955280" y="1645920"/>
            <a:ext cx="3429000" cy="914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857A83-B85D-4DC8-C055-B14AB3B8F384}"/>
              </a:ext>
            </a:extLst>
          </p:cNvPr>
          <p:cNvSpPr txBox="1"/>
          <p:nvPr/>
        </p:nvSpPr>
        <p:spPr>
          <a:xfrm>
            <a:off x="8183880" y="1920240"/>
            <a:ext cx="2971800" cy="21800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C1A30"/>
                </a:solidFill>
              </a:defRPr>
            </a:pPr>
            <a:r>
              <a:rPr dirty="0"/>
              <a:t>3. RM Cognitive Overload</a:t>
            </a:r>
          </a:p>
          <a:p>
            <a:pPr>
              <a:spcAft>
                <a:spcPts val="10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Priscilla Ong manages 20 UHNW relationships ($</a:t>
            </a:r>
            <a:r>
              <a:rPr lang="en-US" dirty="0"/>
              <a:t>596</a:t>
            </a:r>
            <a:r>
              <a:rPr dirty="0"/>
              <a:t>M+ AUM) across 1,015 holdings, 5 macro shocks, and 28 informal CRM notes.</a:t>
            </a:r>
            <a:br>
              <a:rPr dirty="0"/>
            </a:br>
            <a:br>
              <a:rPr dirty="0"/>
            </a:br>
            <a:r>
              <a:rPr dirty="0"/>
              <a:t>Analyzing portfolios and preparing bespoke client meeting packs takes 4+ hours per client, severely capping RM scale and quality of advice.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8634E3-AF83-8C41-43D1-A28CA5304A5F}"/>
              </a:ext>
            </a:extLst>
          </p:cNvPr>
          <p:cNvSpPr txBox="1"/>
          <p:nvPr/>
        </p:nvSpPr>
        <p:spPr>
          <a:xfrm>
            <a:off x="6486144" y="6248400"/>
            <a:ext cx="5047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Keywords: RM – Relationship Manager, SAA – Strategic Asset Allocation, CRM – Customer Relationship Management, PE – Private Equity, LTV – Loan to Value</a:t>
            </a:r>
          </a:p>
        </p:txBody>
      </p:sp>
    </p:spTree>
    <p:extLst>
      <p:ext uri="{BB962C8B-B14F-4D97-AF65-F5344CB8AC3E}">
        <p14:creationId xmlns:p14="http://schemas.microsoft.com/office/powerpoint/2010/main" val="2589107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ENGINEERING METHODOLOGY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Approach: Spec-Driven Development (From Intelligence to Wealth)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3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29768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429000" cy="914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C1A30"/>
                </a:solidFill>
              </a:defRPr>
            </a:pPr>
            <a:r>
              <a:rPr dirty="0"/>
              <a:t>Phase 1: Deep Domain &amp; Data Analysis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rPr dirty="0"/>
              <a:t>• Comprehensive inspection of private banking data structures across 12 source files (clients, portfolios, 1,015 holdings, credit facilities, commitments, event log, unstructured RM notes).</a:t>
            </a:r>
            <a:br>
              <a:rPr dirty="0"/>
            </a:br>
            <a:r>
              <a:rPr dirty="0"/>
              <a:t>• Identified core traps: multi-portfolio mandate flattening and structured product look-through opacity.</a:t>
            </a:r>
            <a:br>
              <a:rPr dirty="0"/>
            </a:br>
            <a:r>
              <a:rPr dirty="0"/>
              <a:t>• Mapped high-touch RM commercial workflows for Asia Desks.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29000" cy="429768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43400" y="1645920"/>
            <a:ext cx="3429000" cy="914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C1A30"/>
                </a:solidFill>
              </a:defRPr>
            </a:pPr>
            <a:r>
              <a:t>Phase 2: Multi-LLM Spec Synthesis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Requirements, constraints, and architecture were rigorously debated and authored collaboratively using Claude 3.7 Sonnet/Opus, ChatGPT-4o/o1, and Google Gemini 2.0 Pro.</a:t>
            </a:r>
            <a:br/>
            <a:r>
              <a:t>• Formally published as WEALTH_INTELLIGENCE_AGENT_SPEC.md.</a:t>
            </a:r>
            <a:br/>
            <a:r>
              <a:t>• Enforced architectural principle: Strict separation of deterministic compute from LLM reasoning.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29000" cy="429768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955280" y="1645920"/>
            <a:ext cx="3429000" cy="91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8388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C1A30"/>
                </a:solidFill>
              </a:defRPr>
            </a:pPr>
            <a:r>
              <a:t>Phase 3: Autonomous Agentic Build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Spec document fed into autonomous agentic coding workflows to implement modular specialist agents.</a:t>
            </a:r>
            <a:br/>
            <a:r>
              <a:t>• Engineered 6 specialist advisory agents (Rebalancing, Tax Optimization, Life Event Planning, Liquidity/Credit Risk, Market Impact, RM Qualitative Notes).</a:t>
            </a:r>
            <a:br/>
            <a:r>
              <a:t>• Built standardized JSON contracts, evidence citations, and temporal horizons.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CURRENT SYSTEM ARCHITECTURE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Current Setup: Three-Tier Agent Swarm &amp; Deterministic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4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72896"/>
            <a:ext cx="5900928" cy="137160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072896"/>
            <a:ext cx="109728" cy="137160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182624"/>
            <a:ext cx="5431536" cy="86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C1A30"/>
                </a:solidFill>
              </a:defRPr>
            </a:pPr>
            <a:r>
              <a:rPr dirty="0"/>
              <a:t>Layer 1: Deterministic Analytics Engine (Zero Hallucination Core)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rPr dirty="0"/>
              <a:t>Calculates SAA drift %, structured product look-through decomposition, consolidated Lombard LTV trajectory, PE capital call runway, and tax-loss harvesting lots mathematically using pure functional code before any LLM invocation.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29840"/>
            <a:ext cx="5900928" cy="2414782"/>
          </a:xfrm>
          <a:prstGeom prst="roundRect">
            <a:avLst>
              <a:gd name="adj" fmla="val 8589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2566416"/>
            <a:ext cx="109728" cy="2378206"/>
          </a:xfrm>
          <a:prstGeom prst="rect">
            <a:avLst/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554224"/>
            <a:ext cx="5404946" cy="23903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C1A30"/>
                </a:solidFill>
              </a:defRPr>
            </a:pPr>
            <a:r>
              <a:rPr dirty="0"/>
              <a:t>Layer 2: Multi-Specialist Advisory Swarm (6 Specialized Micro-Agents)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rPr dirty="0"/>
              <a:t>• Rebalancing Agent: Single &amp; cross-portfolio mandate breaches, trade sizing, phased execution horizon (2-4 </a:t>
            </a:r>
            <a:r>
              <a:rPr dirty="0" err="1"/>
              <a:t>wks</a:t>
            </a:r>
            <a:r>
              <a:rPr dirty="0"/>
              <a:t>)</a:t>
            </a:r>
            <a:br>
              <a:rPr dirty="0"/>
            </a:br>
            <a:r>
              <a:rPr dirty="0"/>
              <a:t>• Tax Optimization Agent: Loss harvesting offsets, domicile tax rules, tax year-end window (pre-31 Dec)</a:t>
            </a:r>
            <a:br>
              <a:rPr dirty="0"/>
            </a:br>
            <a:r>
              <a:rPr dirty="0"/>
              <a:t>• Life Event Planning Agent: Ring-fences committed cash buffers for dynamic milestone dates (e.g. property, tuition)</a:t>
            </a:r>
            <a:br>
              <a:rPr dirty="0"/>
            </a:br>
            <a:r>
              <a:rPr dirty="0"/>
              <a:t>• Liquidity &amp; Credit Risk Agent: Lombard LTV margin buffer remediation (48-72h) &amp; uncalled PE capital reserves</a:t>
            </a:r>
            <a:br>
              <a:rPr dirty="0"/>
            </a:br>
            <a:r>
              <a:rPr dirty="0"/>
              <a:t>• Market Impact Agent: Macro </a:t>
            </a:r>
            <a:r>
              <a:rPr dirty="0" err="1"/>
              <a:t>event_log</a:t>
            </a:r>
            <a:r>
              <a:rPr dirty="0"/>
              <a:t> transmission channels &amp; tactical hedging tenors (3-6 </a:t>
            </a:r>
            <a:r>
              <a:rPr dirty="0" err="1"/>
              <a:t>mos</a:t>
            </a:r>
            <a:r>
              <a:rPr dirty="0"/>
              <a:t>)</a:t>
            </a:r>
            <a:br>
              <a:rPr dirty="0"/>
            </a:br>
            <a:r>
              <a:rPr dirty="0"/>
              <a:t>• RM Notes &amp; Qualitative Agent: Unstructured CRM notes, standing exclusions &amp; permanent holding policies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10912"/>
            <a:ext cx="5900928" cy="1713290"/>
          </a:xfrm>
          <a:prstGeom prst="roundRect">
            <a:avLst>
              <a:gd name="adj" fmla="val 11686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" y="5042158"/>
            <a:ext cx="109728" cy="1632962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010912"/>
            <a:ext cx="4801682" cy="1713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C1A30"/>
                </a:solidFill>
              </a:defRPr>
            </a:pPr>
            <a:r>
              <a:rPr dirty="0"/>
              <a:t>Layer 3: Master Orchestrator &amp; Synergistic Synthesis Engine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rPr dirty="0"/>
              <a:t>• Conflict Resolution: Resolves trade tensions (e.g. mandate trim vs. RM legacy holding override)</a:t>
            </a:r>
            <a:br>
              <a:rPr dirty="0"/>
            </a:br>
            <a:r>
              <a:rPr dirty="0"/>
              <a:t>• Comingling Opportunities: Clubs multi-agent actions into unified, cost-efficient client proposals</a:t>
            </a:r>
            <a:br>
              <a:rPr dirty="0"/>
            </a:br>
            <a:r>
              <a:rPr dirty="0"/>
              <a:t>• Composite Urgency Scoring (0-100) &amp; Point-in-Time Event Filtering: Highlights developments post last RM meeting</a:t>
            </a:r>
            <a:br>
              <a:rPr dirty="0"/>
            </a:br>
            <a:r>
              <a:rPr dirty="0"/>
              <a:t>• Meeting Pack Synthesis: Generates client-ready briefings, formal emails, and supervisory audit dossiers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7019446-9B8C-3E77-8CB8-E2BC7D00C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054" y="1630482"/>
            <a:ext cx="5404946" cy="408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TECH STACK COMPARISON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Technology Architecture: Current Prototype vs. Production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5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05840"/>
            <a:ext cx="5166360" cy="4480560"/>
          </a:xfrm>
          <a:prstGeom prst="roundRect">
            <a:avLst>
              <a:gd name="adj" fmla="val 6871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5166360" cy="914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188720"/>
            <a:ext cx="4709160" cy="3421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C1A30"/>
                </a:solidFill>
              </a:defRPr>
            </a:pPr>
            <a:r>
              <a:rPr dirty="0"/>
              <a:t>⚡ Current Hackathon Prototype Stack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rPr sz="1200" dirty="0"/>
              <a:t>• </a:t>
            </a:r>
            <a:r>
              <a:rPr sz="1200" b="1" dirty="0"/>
              <a:t>Frontend &amp; UI</a:t>
            </a:r>
            <a:r>
              <a:rPr sz="1200" dirty="0"/>
              <a:t>: </a:t>
            </a:r>
            <a:r>
              <a:rPr sz="1200" dirty="0" err="1"/>
              <a:t>Streamlit</a:t>
            </a:r>
            <a:r>
              <a:rPr sz="1200" dirty="0"/>
              <a:t> (Python 3.13) + Julius Baer Bespoke Luxury CSS Theme &amp; Design System.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rPr sz="1200" dirty="0"/>
              <a:t>• </a:t>
            </a:r>
            <a:r>
              <a:rPr sz="1200" b="1" dirty="0"/>
              <a:t>Agent Framework</a:t>
            </a:r>
            <a:r>
              <a:rPr sz="1200" dirty="0"/>
              <a:t>: Custom Multi-Agent Swarm with </a:t>
            </a:r>
            <a:r>
              <a:rPr sz="1200" dirty="0" err="1"/>
              <a:t>Pydantic</a:t>
            </a:r>
            <a:r>
              <a:rPr sz="1200" dirty="0"/>
              <a:t> State Schema &amp; Tool Execution Contracts.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rPr sz="1200" dirty="0"/>
              <a:t>• </a:t>
            </a:r>
            <a:r>
              <a:rPr sz="1200" b="1" dirty="0"/>
              <a:t>LLM Engine</a:t>
            </a:r>
            <a:r>
              <a:rPr sz="1200" dirty="0"/>
              <a:t>: </a:t>
            </a:r>
            <a:r>
              <a:rPr lang="en-US" sz="1200" dirty="0" err="1"/>
              <a:t>Groq</a:t>
            </a:r>
            <a:r>
              <a:rPr lang="en-US" sz="1200" dirty="0"/>
              <a:t>, </a:t>
            </a:r>
            <a:r>
              <a:rPr sz="1200" dirty="0"/>
              <a:t>Multi-Model Gateway (Claude 3.7 / OpenAI GPT-4o / Google Gemini API wrappers).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rPr sz="1200" dirty="0"/>
              <a:t>• </a:t>
            </a:r>
            <a:r>
              <a:rPr sz="1200" b="1" dirty="0"/>
              <a:t>Deterministic Analytics</a:t>
            </a:r>
            <a:r>
              <a:rPr sz="1200" dirty="0"/>
              <a:t>: Pure functional Python, NumPy, and Pandas calculation modules.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rPr sz="1200" dirty="0"/>
              <a:t>• </a:t>
            </a:r>
            <a:r>
              <a:rPr sz="1200" b="1" dirty="0"/>
              <a:t>Semantic Search / Vector Store</a:t>
            </a:r>
            <a:r>
              <a:rPr sz="1200" dirty="0"/>
              <a:t>: In-memory </a:t>
            </a:r>
            <a:r>
              <a:rPr sz="1200" dirty="0" err="1"/>
              <a:t>ChromaDB</a:t>
            </a:r>
            <a:r>
              <a:rPr sz="1200" dirty="0"/>
              <a:t> semantic index for RM notes and macro event log.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rPr sz="1200" dirty="0"/>
              <a:t>• </a:t>
            </a:r>
            <a:r>
              <a:rPr sz="1200" b="1" dirty="0"/>
              <a:t>Storage &amp; Repository</a:t>
            </a:r>
            <a:r>
              <a:rPr sz="1200" dirty="0"/>
              <a:t>: CSV/JSON relational repository with hierarchical entity graph (Client → Portfolios → Holdings).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rPr sz="1200" dirty="0"/>
              <a:t>• </a:t>
            </a:r>
            <a:r>
              <a:rPr sz="1200" b="1" dirty="0"/>
              <a:t>Governance &amp; Security</a:t>
            </a:r>
            <a:r>
              <a:rPr sz="1200" dirty="0"/>
              <a:t>: </a:t>
            </a:r>
            <a:r>
              <a:rPr sz="1200" dirty="0" err="1"/>
              <a:t>Streamlit</a:t>
            </a:r>
            <a:r>
              <a:rPr sz="1200" dirty="0"/>
              <a:t> session state approval cache with instant JSON audit log export.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05840"/>
            <a:ext cx="5212080" cy="4480560"/>
          </a:xfrm>
          <a:prstGeom prst="roundRect">
            <a:avLst>
              <a:gd name="adj" fmla="val 6055"/>
            </a:avLst>
          </a:prstGeom>
          <a:solidFill>
            <a:srgbClr val="14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7920" y="1005840"/>
            <a:ext cx="5212080" cy="914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188720"/>
            <a:ext cx="4754880" cy="3575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C5A059"/>
                </a:solidFill>
              </a:defRPr>
            </a:pPr>
            <a:r>
              <a:rPr dirty="0"/>
              <a:t>🏛️ Proposed Enterprise Production Deployment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rPr sz="1200" dirty="0"/>
              <a:t>• </a:t>
            </a:r>
            <a:r>
              <a:rPr sz="1200" b="1" dirty="0"/>
              <a:t>Frontend</a:t>
            </a:r>
            <a:r>
              <a:rPr sz="1200" dirty="0"/>
              <a:t>: </a:t>
            </a:r>
            <a:r>
              <a:rPr sz="1200" dirty="0" err="1"/>
              <a:t>Next.js</a:t>
            </a:r>
            <a:r>
              <a:rPr sz="1200" dirty="0"/>
              <a:t> 15 / React 19 + Radix UI + Julius Baer EAM/RM Portal Micro-frontend integration.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rPr sz="1200" b="1" dirty="0"/>
              <a:t>• API &amp; Services</a:t>
            </a:r>
            <a:r>
              <a:rPr sz="1200" dirty="0"/>
              <a:t>: </a:t>
            </a:r>
            <a:r>
              <a:rPr sz="1200" dirty="0" err="1"/>
              <a:t>FastAPI</a:t>
            </a:r>
            <a:r>
              <a:rPr sz="1200" dirty="0"/>
              <a:t> / Async Python microservices with Ray / Celery Distributed Task Worker Clusters.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rPr sz="1200" dirty="0"/>
              <a:t>• </a:t>
            </a:r>
            <a:r>
              <a:rPr sz="1200" b="1" dirty="0"/>
              <a:t>Orchestration Engine</a:t>
            </a:r>
            <a:r>
              <a:rPr sz="1200" dirty="0"/>
              <a:t>: </a:t>
            </a:r>
            <a:r>
              <a:rPr sz="1200" dirty="0" err="1"/>
              <a:t>LangGraph</a:t>
            </a:r>
            <a:r>
              <a:rPr sz="1200" dirty="0"/>
              <a:t> Enterprise / Temporal Workflow Orchestrator with stateful checkpoints.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rPr sz="1200" b="1" dirty="0"/>
              <a:t>• LLM Gateway</a:t>
            </a:r>
            <a:r>
              <a:rPr sz="1200" dirty="0"/>
              <a:t>: Dedicated Private Azure OpenAI / AWS Bedrock VPC (Zero Data Retention) + On-Prem Air-Gapped SLM (Llama 3 70B / Mistral Large).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rPr sz="1200" dirty="0"/>
              <a:t>• </a:t>
            </a:r>
            <a:r>
              <a:rPr sz="1200" b="1" dirty="0"/>
              <a:t>Deterministic Kernel: </a:t>
            </a:r>
            <a:r>
              <a:rPr sz="1200" dirty="0"/>
              <a:t>High-performance C++ / Rust financial calculation engine (microsecond latency).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rPr sz="1200" dirty="0"/>
              <a:t>• </a:t>
            </a:r>
            <a:r>
              <a:rPr sz="1200" b="1" dirty="0"/>
              <a:t>Data Warehouse: </a:t>
            </a:r>
            <a:r>
              <a:rPr sz="1200" dirty="0"/>
              <a:t>Snowflake Data Cloud + </a:t>
            </a:r>
            <a:r>
              <a:rPr sz="1200" dirty="0" err="1"/>
              <a:t>TimescaleDB</a:t>
            </a:r>
            <a:r>
              <a:rPr sz="1200" dirty="0"/>
              <a:t> (time-series snapshots) + Milvus/</a:t>
            </a:r>
            <a:r>
              <a:rPr sz="1200" dirty="0" err="1"/>
              <a:t>pgvector</a:t>
            </a:r>
            <a:r>
              <a:rPr sz="1200" dirty="0"/>
              <a:t> Enterprise Vector DB.</a:t>
            </a:r>
          </a:p>
          <a:p>
            <a:pPr>
              <a:spcAft>
                <a:spcPts val="500"/>
              </a:spcAft>
              <a:defRPr sz="1100">
                <a:solidFill>
                  <a:srgbClr val="FFFFFF"/>
                </a:solidFill>
              </a:defRPr>
            </a:pPr>
            <a:r>
              <a:rPr sz="1200" dirty="0"/>
              <a:t>• </a:t>
            </a:r>
            <a:r>
              <a:rPr sz="1200" b="1" dirty="0"/>
              <a:t>Security &amp; Compliance</a:t>
            </a:r>
            <a:r>
              <a:rPr sz="1200" dirty="0"/>
              <a:t>: Enterprise SAML/OIDC SSO, </a:t>
            </a:r>
            <a:r>
              <a:rPr sz="1200" dirty="0" err="1"/>
              <a:t>HashiCorp</a:t>
            </a:r>
            <a:r>
              <a:rPr sz="1200" dirty="0"/>
              <a:t> Vault, and Kafka immutable audit ledger for FINMA/MAS compliance.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64646D-12D5-45EC-833E-6069B786A02C}"/>
              </a:ext>
            </a:extLst>
          </p:cNvPr>
          <p:cNvSpPr txBox="1"/>
          <p:nvPr/>
        </p:nvSpPr>
        <p:spPr>
          <a:xfrm>
            <a:off x="731520" y="5541264"/>
            <a:ext cx="10728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i="1" dirty="0"/>
              <a:t>The prototype has been designed with a clean separation of concerns: our deterministic engine and </a:t>
            </a:r>
            <a:r>
              <a:rPr lang="en-SG" sz="1200" i="1" dirty="0" err="1"/>
              <a:t>Pydantic</a:t>
            </a:r>
            <a:r>
              <a:rPr lang="en-SG" sz="1200" i="1" dirty="0"/>
              <a:t> agent schemas map 1:1 to microservices. Transitioning to production simply means pointing the data layer to Julius Baer's Snowflake warehouse, running the agent graph on </a:t>
            </a:r>
            <a:r>
              <a:rPr lang="en-SG" sz="1200" i="1" dirty="0" err="1"/>
              <a:t>LangGraph</a:t>
            </a:r>
            <a:r>
              <a:rPr lang="en-SG" sz="1200" i="1" dirty="0"/>
              <a:t> Enterprise within their private Azure/AWS banking VPC, and embedding the front-end as a React widget inside the RM workstation—with zero changes to the underlying financial logic or governance guardrails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TRUST &amp; RISK CONTROLS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Enterprise Guardrails: Deterministic Compute, Four-Eyes Control &amp; Fallbacks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6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3566160"/>
          </a:xfrm>
          <a:prstGeom prst="roundRect">
            <a:avLst>
              <a:gd name="adj" fmla="val 7778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429000" cy="914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0C1A30"/>
                </a:solidFill>
              </a:defRPr>
            </a:pPr>
            <a:r>
              <a:rPr dirty="0"/>
              <a:t>a) Deterministic Layer (Zero Hallucination)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rPr dirty="0"/>
              <a:t>• Strict decoupling of compute from reasoning.</a:t>
            </a:r>
            <a:br>
              <a:rPr dirty="0"/>
            </a:br>
            <a:r>
              <a:rPr dirty="0"/>
              <a:t>• All drift %, LTV ratios, look-through weights, and cash runways are computed via pure immutable functions.</a:t>
            </a:r>
            <a:br>
              <a:rPr dirty="0"/>
            </a:br>
            <a:r>
              <a:rPr dirty="0"/>
              <a:t>• LLMs NEVER perform arithmetic; they only receive pre-verified metric facts as tool outputs and cite source function names and valuation dates.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29000" cy="3602736"/>
          </a:xfrm>
          <a:prstGeom prst="roundRect">
            <a:avLst>
              <a:gd name="adj" fmla="val 8489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43400" y="1645920"/>
            <a:ext cx="3429000" cy="914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0C1A30"/>
                </a:solidFill>
              </a:defRPr>
            </a:pPr>
            <a:r>
              <a:t>b) Maker-Checker Supervisory Control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Maker (RM Priscilla Ong): Reviews recommendations, customizes talking points, queues commercial actions.</a:t>
            </a:r>
            <a:br/>
            <a:r>
              <a:t>• Checker (Desk Head Marc Guggenheim DH-SG-001): 4-Point Supervisory Audit (KYC, Suitability, Exclusions, Cross-Border Fit).</a:t>
            </a:r>
            <a:br/>
            <a:r>
              <a:t>• Digital Endorsement Stamp &amp; SHA-256 audit token required before client export.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29000" cy="3602736"/>
          </a:xfrm>
          <a:prstGeom prst="roundRect">
            <a:avLst>
              <a:gd name="adj" fmla="val 8134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955280" y="1645920"/>
            <a:ext cx="342900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83880" y="192024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0C1A30"/>
                </a:solidFill>
              </a:defRPr>
            </a:pPr>
            <a:r>
              <a:t>c) Graceful Deterministic Fallback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100% LLM Outage &amp; Latency Resiliency.</a:t>
            </a:r>
            <a:br/>
            <a:r>
              <a:t>• If LLM APIs are offline, rate-limited, or latent, system automatically fails over to instant deterministic rule synthesis.</a:t>
            </a:r>
            <a:br/>
            <a:r>
              <a:t>• Produces complete, compliant, professional client recommendations and talking points deterministically without service disruption.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19EE68D-FA43-D6D9-7F3D-B14AA2CA95D5}"/>
              </a:ext>
            </a:extLst>
          </p:cNvPr>
          <p:cNvSpPr/>
          <p:nvPr/>
        </p:nvSpPr>
        <p:spPr>
          <a:xfrm>
            <a:off x="731520" y="5346192"/>
            <a:ext cx="10652760" cy="951506"/>
          </a:xfrm>
          <a:prstGeom prst="roundRect">
            <a:avLst>
              <a:gd name="adj" fmla="val 7778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BBA9F3-6663-4297-5B6A-405D206938EB}"/>
              </a:ext>
            </a:extLst>
          </p:cNvPr>
          <p:cNvSpPr txBox="1"/>
          <p:nvPr/>
        </p:nvSpPr>
        <p:spPr>
          <a:xfrm>
            <a:off x="960120" y="5297424"/>
            <a:ext cx="10195560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0C1A30"/>
                </a:solidFill>
              </a:defRPr>
            </a:pPr>
            <a:r>
              <a:rPr lang="en-US" dirty="0"/>
              <a:t>Other Security features</a:t>
            </a:r>
            <a:endParaRPr dirty="0"/>
          </a:p>
          <a:p>
            <a:pPr>
              <a:defRPr sz="115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lang="en-US" dirty="0"/>
              <a:t>Human Review | Presentation Privacy Mode | Role based governance and RLS (Row level Security) | Hard Constraint for Standing RM Notes | 1 Click Audit Trail | AI Explain</a:t>
            </a:r>
            <a:r>
              <a:rPr lang="en-SG" dirty="0"/>
              <a:t> 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rPr lang="en-SG" dirty="0"/>
              <a:t>• </a:t>
            </a:r>
            <a:r>
              <a:rPr lang="en-US" dirty="0"/>
              <a:t>Future Proposal : Agent swarm proposal challenger Agent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CORE CAPABILITIES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Innovation: Unmasking Invisible Cross-Portfolio &amp; Derivative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7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66360" cy="2810256"/>
          </a:xfrm>
          <a:prstGeom prst="roundRect">
            <a:avLst>
              <a:gd name="adj" fmla="val 7143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617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C1A30"/>
                </a:solidFill>
              </a:defRPr>
            </a:pPr>
            <a:r>
              <a:rPr dirty="0"/>
              <a:t>🔍 Look-Through Derivative Decomposition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Core banking systems only see the product wrapper ('FCN ref Basket A' or 'Asia </a:t>
            </a:r>
            <a:r>
              <a:rPr dirty="0" err="1"/>
              <a:t>Autocallable</a:t>
            </a:r>
            <a:r>
              <a:rPr dirty="0"/>
              <a:t>').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Our engine unpacks 'worst-of' structured notes into constituent single equities (e.g. Helios Cloud, Global Energy Majors).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Allocates fractional economic exposure dynamically to underlying asset classes and sectors.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Prevents unmonitored concentration build-up in volatile single names across advisory and execution sleeves.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2810256"/>
          </a:xfrm>
          <a:prstGeom prst="roundRect">
            <a:avLst>
              <a:gd name="adj" fmla="val 7687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73736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C1A30"/>
                </a:solidFill>
              </a:defRPr>
            </a:pPr>
            <a:r>
              <a:rPr dirty="0"/>
              <a:t>🌐 Whole-Client Risk Aggregation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Aggregate Concentration: 6% stock in Sleeve A + 7% in Sleeve B = 13% client-level breach (flagged as CONC_AGG).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Consolidated Lombard LTV: Combines collateral across all pledged sleeves against credit facility FAC-0001.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Liquidity Pool vs PE Deficits: Pools cash across sleeves to test against uncalled capital calls ($2.5M) and planned outflows.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Macro Shock Transmission: Aggregates client-wide exposure to oil, rates, semiconductors, and currency shifts.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58C40C-9B58-E4D3-E26B-1CE50CEBFA5A}"/>
              </a:ext>
            </a:extLst>
          </p:cNvPr>
          <p:cNvSpPr/>
          <p:nvPr/>
        </p:nvSpPr>
        <p:spPr>
          <a:xfrm>
            <a:off x="762000" y="4547616"/>
            <a:ext cx="10668000" cy="1633728"/>
          </a:xfrm>
          <a:prstGeom prst="roundRect">
            <a:avLst>
              <a:gd name="adj" fmla="val 7143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A4F9D4-7C68-F9D3-58A8-A8B82572F67D}"/>
              </a:ext>
            </a:extLst>
          </p:cNvPr>
          <p:cNvSpPr txBox="1"/>
          <p:nvPr/>
        </p:nvSpPr>
        <p:spPr>
          <a:xfrm>
            <a:off x="1005840" y="4617720"/>
            <a:ext cx="10052304" cy="15004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C1A30"/>
                </a:solidFill>
              </a:defRPr>
            </a:pPr>
            <a:r>
              <a:rPr dirty="0"/>
              <a:t>🔍 </a:t>
            </a:r>
            <a:r>
              <a:rPr lang="en-US" dirty="0"/>
              <a:t>Other Innovations</a:t>
            </a:r>
            <a:endParaRPr dirty="0"/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lang="en-SG" dirty="0"/>
              <a:t>Multi-Booking Centre &amp; Multi-Currency Engine, Multi-Jurisdiction Cross-Border Governance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lang="en-SG" dirty="0"/>
              <a:t>• Real-time trigger to Conversation Engine (partially built)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lang="en-SG" dirty="0"/>
              <a:t>• Portfolio Stress Testing Lab (partially built)</a:t>
            </a:r>
          </a:p>
          <a:p>
            <a:pPr>
              <a:spcAft>
                <a:spcPts val="700"/>
              </a:spcAft>
              <a:defRPr sz="1200">
                <a:solidFill>
                  <a:srgbClr val="1E293B"/>
                </a:solidFill>
              </a:defRPr>
            </a:pPr>
            <a:r>
              <a:rPr lang="en-SG" dirty="0"/>
              <a:t>• Client Digital Twin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WORKED CLIENT CASE STUDY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Client Deep Dive: Cheung Kwok Wing (CL-0012) &amp; Hartono Kusuma (CL-0001)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8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4480560"/>
          </a:xfrm>
          <a:prstGeom prst="roundRect">
            <a:avLst>
              <a:gd name="adj" fmla="val 6937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C1A30"/>
                </a:solidFill>
              </a:defRPr>
            </a:pPr>
            <a:r>
              <a:t>👤 Cheung Kwok Wing (CL-0012)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Age 71, retired in Hong Kong ($28.0M AUM).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Draws $1.1M/yr for living expenses.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RM Note: Explicitly stated he will NOT sell bonds at a loss.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Fixed income down -$5.6M due to rate hikes.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Longest bond matures in 2045: waiting for recovery is NOT a plan he can outlive.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4480560"/>
          </a:xfrm>
          <a:prstGeom prst="roundRect">
            <a:avLst>
              <a:gd name="adj" fmla="val 6937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6916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E11D48"/>
                </a:solidFill>
              </a:defRPr>
            </a:pPr>
            <a:r>
              <a:t>⚠️ Hartono Kusuma (CL-0001)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Age 34, Indonesian 2nd Gen ($46.6M across 2 portfolios).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41.4% concentrated in Bara Nusantara Energy across sleeves.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Lombard facility LTV reached 68.4% (near 70% margin call threshold).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Cross-portfolio look-through unmasks hidden aggregate risk invisible within individual accounts.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54480"/>
            <a:ext cx="3383280" cy="4480560"/>
          </a:xfrm>
          <a:prstGeom prst="roundRect">
            <a:avLst>
              <a:gd name="adj" fmla="val 8739"/>
            </a:avLst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16916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C5A059"/>
                </a:solidFill>
              </a:defRPr>
            </a:pPr>
            <a:r>
              <a:rPr dirty="0"/>
              <a:t>🎯 Client-Ready Solutions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rPr dirty="0"/>
              <a:t>• For Cheung Kwok Wing: Barbell reinvestment into 2Y Treasury ladder (5.1% yield) funding $1.1M income without 2045 duration risk.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rPr dirty="0"/>
              <a:t>• For Hartono Kusuma: Trim $2.4M of energy holding over 2-4 weeks to pay down Lombard debt (lowering LTV to safe 58%).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rPr dirty="0"/>
              <a:t>• Conversation Scripts: Empathetic, psychologically grounded talking points for Priscilla.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WORKED CLIENT CASE STUDY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Client Deep Dive: Kim Do-Yoon (CL-0015 — Tech Founder, $15.0M AUM)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9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4480560"/>
          </a:xfrm>
          <a:prstGeom prst="roundRect">
            <a:avLst>
              <a:gd name="adj" fmla="val 8379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C1A30"/>
                </a:solidFill>
              </a:defRPr>
            </a:pPr>
            <a:r>
              <a:rPr dirty="0"/>
              <a:t>💼 The Client Situation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rPr dirty="0"/>
              <a:t>• Age 38, Tech Entrepreneur ($15.0M AUM).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rPr dirty="0"/>
              <a:t>• Wealth created via AI software startup Series C round.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rPr dirty="0"/>
              <a:t>• High growth appetite, aggressive risk tolerance score.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rPr dirty="0"/>
              <a:t>• Committed $5.0M to Private Equity Growth Fund ($2.5M uncalled capital).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4480560"/>
          </a:xfrm>
          <a:prstGeom prst="roundRect">
            <a:avLst>
              <a:gd name="adj" fmla="val 8379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6916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E11D48"/>
                </a:solidFill>
              </a:defRPr>
            </a:pPr>
            <a:r>
              <a:t>🚨 Liquidity Shortfall Risk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Upcoming PE Capital Call: $1.2M due in Q4 2026.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Cash holdings in portfolio: only $340,000 (Deficit of -$860,000).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Portfolio heavily concentrated in illiquid unlisted shares (Aranya Tech) and structured autocallable notes.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Forced fire-sale risk if PE drawdowns accelerate.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54480"/>
            <a:ext cx="3383280" cy="4480560"/>
          </a:xfrm>
          <a:prstGeom prst="roundRect">
            <a:avLst>
              <a:gd name="adj" fmla="val 9099"/>
            </a:avLst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169164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C5A059"/>
                </a:solidFill>
              </a:defRPr>
            </a:pPr>
            <a:r>
              <a:t>💡 Tax-Aware Rebalancing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Tax-Aware Domicile Structuring: Rebalance with zero personal capital gains tax drag.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Structured Liquidity Buffer: Liquidate $1.0M of maturing Asian Bank Autocallables into money market funds.</a:t>
            </a:r>
          </a:p>
          <a:p>
            <a:pPr>
              <a:spcAft>
                <a:spcPts val="400"/>
              </a:spcAft>
              <a:defRPr sz="1100">
                <a:solidFill>
                  <a:srgbClr val="FFFFFF"/>
                </a:solidFill>
              </a:defRPr>
            </a:pPr>
            <a:r>
              <a:t>• Collateral Optimization: Pre-approve Lombard line against unlisted shares to establish a $1.5M credit liquidity backstop.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WORKBENCH INNOVATION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RM Workbench: Whole-Book Prioritization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10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840480" cy="4480560"/>
          </a:xfrm>
          <a:prstGeom prst="roundRect">
            <a:avLst>
              <a:gd name="adj" fmla="val 5556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C1A30"/>
                </a:solidFill>
              </a:defRPr>
            </a:pPr>
            <a:r>
              <a:t>📊 Prioritization Algorithm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Composite Risk Score (0-100): Combines mandate breach severity, LTV margin call buffer, PE liquidity deficits, and days since last interaction.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Point-in-Time Last Meeting Filter: Focuses strictly on market events post-dating the last RM conversation.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Defensible Ranking: Priscilla knows exactly why Client #1 ranks ahead of Client #20 on her morning dashboard.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554480"/>
            <a:ext cx="6583680" cy="4480560"/>
          </a:xfrm>
          <a:prstGeom prst="roundRect">
            <a:avLst>
              <a:gd name="adj" fmla="val 6871"/>
            </a:avLst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0" y="1737360"/>
            <a:ext cx="6217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C1A30"/>
                </a:solidFill>
              </a:defRPr>
            </a:pPr>
            <a:r>
              <a:t>🏆 Priscilla's Morning Call Queue (Aug 26, 2026)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t>▶ Rank 1: Hartono Wijaya Kusuma ($46.6M | CL-0001)</a:t>
            </a:r>
            <a:br/>
            <a:r>
              <a:t>   Score 89 | Lombard LTV 68.4% (Near Margin Call) + 41.4% Energy Conc.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t>▶ Rank 2: Cheung Kwok Wing ($28.0M | CL-0012)</a:t>
            </a:r>
            <a:br/>
            <a:r>
              <a:t>   Score 86 | $5.6M Fixed Income Duration Deficit vs $1.1M/yr Cash Needs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t>▶ Rank 3: Kim Do-Yoon ($15.0M | CL-0015)</a:t>
            </a:r>
            <a:br/>
            <a:r>
              <a:t>   Score 84 | PE Capital Call Shortfall (-$860k) + Tech Concentration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t>▶ Rank 4: Fong Enterprises FO ($87.9M | CL-0017)</a:t>
            </a:r>
            <a:br/>
            <a:r>
              <a:t>   Score 78 | Cross-Portfolio Energy Overweight + SAA Drift Breaches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</a:defRPr>
            </a:pPr>
            <a:r>
              <a:t>▶ Rank 5-20: Monitored Stable Book</a:t>
            </a:r>
            <a:br/>
            <a:r>
              <a:t>   Automated tracking; alerts triggered only on threshold breaches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t>USER EXPERIENCE</a:t>
            </a:r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t>End-to-End Workflow: From Signal to Supervisory Endorsement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11 of 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2011680" cy="7772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755648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STAGE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664208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t>Step 1: Morning Priority Queue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Priscilla logs in → Book Overview → Top 5 prioritized clients flagged by composite urgency scoring.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50591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1520" y="2450591"/>
            <a:ext cx="2011680" cy="7772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51759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STAGE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560319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t>Step 2: Client 360 &amp; Stress Testing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Unpacks holdings, 5-snapshot trends, cross-portfolio LTV &amp; PE liquidity runways in interactive lab.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31520" y="3346704"/>
            <a:ext cx="2011680" cy="7772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3547872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STAGE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456432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t>Step 3: Specialist Agent Action Deck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Reviews multi-agent recommendations, customizes talking points, approves rebalancing orders.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42816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4242816"/>
            <a:ext cx="2011680" cy="7772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4443984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STAGE 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352544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t>Step 4: Supervisory 4-Point Audit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Desk Head Marc Guggenheim executes four-eyes suitability audit and applies digital approval stamp.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138928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5138928"/>
            <a:ext cx="2011680" cy="7772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340096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STAGE 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248656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t>Step 5: Client Meeting Pack Export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Exports branded Briefing Notes, Client Discussion Agenda, or Formal Advisory Email in 1 click.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E0319-176C-1EEE-A24E-57DC101C8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7432F3-F452-1F02-FBCB-A754D6AF19DA}"/>
              </a:ext>
            </a:extLst>
          </p:cNvPr>
          <p:cNvSpPr txBox="1"/>
          <p:nvPr/>
        </p:nvSpPr>
        <p:spPr>
          <a:xfrm>
            <a:off x="731520" y="365760"/>
            <a:ext cx="10698480" cy="5027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C5A059"/>
                </a:solidFill>
              </a:defRPr>
            </a:pPr>
            <a:r>
              <a:rPr lang="en-US" dirty="0"/>
              <a:t>NEXT STEPS</a:t>
            </a:r>
            <a:endParaRPr dirty="0"/>
          </a:p>
          <a:p>
            <a:pPr>
              <a:defRPr sz="2100" b="1">
                <a:solidFill>
                  <a:srgbClr val="0C1A30"/>
                </a:solidFill>
              </a:defRPr>
            </a:pPr>
            <a:r>
              <a:rPr lang="en-US" dirty="0"/>
              <a:t>Having come this far – what next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7AF3D5-C593-B847-20FC-E43780AA38A5}"/>
              </a:ext>
            </a:extLst>
          </p:cNvPr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SingHacks 2026 — JB Pulse: AI-Powered Wealth Intelligence Cockpit | Confidential &amp; Proprietary | Slide 11 of 12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19DCC41-9980-45C1-08E2-65600FC5488A}"/>
              </a:ext>
            </a:extLst>
          </p:cNvPr>
          <p:cNvSpPr/>
          <p:nvPr/>
        </p:nvSpPr>
        <p:spPr>
          <a:xfrm>
            <a:off x="731520" y="1554480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F7B252-008A-E51D-502A-88734B48D883}"/>
              </a:ext>
            </a:extLst>
          </p:cNvPr>
          <p:cNvSpPr/>
          <p:nvPr/>
        </p:nvSpPr>
        <p:spPr>
          <a:xfrm>
            <a:off x="731520" y="1554480"/>
            <a:ext cx="2011680" cy="7772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D4B3C0-4244-E734-A300-6547C1C1BAF4}"/>
              </a:ext>
            </a:extLst>
          </p:cNvPr>
          <p:cNvSpPr txBox="1"/>
          <p:nvPr/>
        </p:nvSpPr>
        <p:spPr>
          <a:xfrm>
            <a:off x="822960" y="1755648"/>
            <a:ext cx="16685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lang="en-US" dirty="0"/>
              <a:t>Security and Guardrails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06A14E-DE3E-8D97-DA56-A5E4351B4854}"/>
              </a:ext>
            </a:extLst>
          </p:cNvPr>
          <p:cNvSpPr txBox="1"/>
          <p:nvPr/>
        </p:nvSpPr>
        <p:spPr>
          <a:xfrm>
            <a:off x="2926080" y="1664208"/>
            <a:ext cx="8321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rPr dirty="0"/>
              <a:t>1: </a:t>
            </a:r>
            <a:r>
              <a:rPr lang="en-US" dirty="0"/>
              <a:t>Comprehensive Test Execution Agent</a:t>
            </a:r>
            <a:endParaRPr dirty="0"/>
          </a:p>
          <a:p>
            <a:pPr>
              <a:defRPr sz="1100">
                <a:solidFill>
                  <a:srgbClr val="1E293B"/>
                </a:solidFill>
              </a:defRPr>
            </a:pPr>
            <a:r>
              <a:rPr lang="en-US" dirty="0"/>
              <a:t>An end to end regression suite for all deterministic flows, right now has 16 tests</a:t>
            </a:r>
            <a:endParaRPr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C1EEE96-839B-45D7-E852-EF583FFD2B9C}"/>
              </a:ext>
            </a:extLst>
          </p:cNvPr>
          <p:cNvSpPr/>
          <p:nvPr/>
        </p:nvSpPr>
        <p:spPr>
          <a:xfrm>
            <a:off x="731520" y="2450591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E1ED48-4B60-E59D-D1BA-1874EBFA9A89}"/>
              </a:ext>
            </a:extLst>
          </p:cNvPr>
          <p:cNvSpPr/>
          <p:nvPr/>
        </p:nvSpPr>
        <p:spPr>
          <a:xfrm>
            <a:off x="731520" y="2450591"/>
            <a:ext cx="2011680" cy="7772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6097CD-9395-392B-C9AD-20C4354DCAFD}"/>
              </a:ext>
            </a:extLst>
          </p:cNvPr>
          <p:cNvSpPr txBox="1"/>
          <p:nvPr/>
        </p:nvSpPr>
        <p:spPr>
          <a:xfrm>
            <a:off x="822960" y="2651759"/>
            <a:ext cx="137345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lang="en-US" dirty="0"/>
              <a:t>How are you sure?</a:t>
            </a:r>
            <a:endParaRPr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2665D2-9C9C-A374-1921-4EA9151084EE}"/>
              </a:ext>
            </a:extLst>
          </p:cNvPr>
          <p:cNvSpPr txBox="1"/>
          <p:nvPr/>
        </p:nvSpPr>
        <p:spPr>
          <a:xfrm>
            <a:off x="2926080" y="2560319"/>
            <a:ext cx="832104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rPr dirty="0"/>
              <a:t>2: </a:t>
            </a:r>
            <a:r>
              <a:rPr lang="en-US" dirty="0"/>
              <a:t>Challenger AI Agent</a:t>
            </a:r>
            <a:endParaRPr dirty="0"/>
          </a:p>
          <a:p>
            <a:pPr>
              <a:defRPr sz="1100">
                <a:solidFill>
                  <a:srgbClr val="1E293B"/>
                </a:solidFill>
              </a:defRPr>
            </a:pPr>
            <a:r>
              <a:rPr lang="en-SG" sz="1100" dirty="0">
                <a:solidFill>
                  <a:srgbClr val="1E293B"/>
                </a:solidFill>
              </a:rPr>
              <a:t>Independently stress-tests the Orchestration Agent’s recommended actions by questioning assumptions, identifying risks, conflicts, and missing client context</a:t>
            </a:r>
            <a:r>
              <a:rPr dirty="0"/>
              <a:t>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40F7170-1CA2-4DDB-DFBC-7FF9E3F2CB59}"/>
              </a:ext>
            </a:extLst>
          </p:cNvPr>
          <p:cNvSpPr/>
          <p:nvPr/>
        </p:nvSpPr>
        <p:spPr>
          <a:xfrm>
            <a:off x="731520" y="3346704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CD25E9-84F5-3887-32D1-D96F64893421}"/>
              </a:ext>
            </a:extLst>
          </p:cNvPr>
          <p:cNvSpPr/>
          <p:nvPr/>
        </p:nvSpPr>
        <p:spPr>
          <a:xfrm>
            <a:off x="731520" y="3346704"/>
            <a:ext cx="2011680" cy="7772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4F003C-A5B8-614B-19B3-327991449F8D}"/>
              </a:ext>
            </a:extLst>
          </p:cNvPr>
          <p:cNvSpPr txBox="1"/>
          <p:nvPr/>
        </p:nvSpPr>
        <p:spPr>
          <a:xfrm>
            <a:off x="822960" y="3547872"/>
            <a:ext cx="142135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lang="en-US" dirty="0"/>
              <a:t>Get me the money!</a:t>
            </a:r>
            <a:endParaRPr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604443-DF2D-44A2-2310-7A4B46C72F6B}"/>
              </a:ext>
            </a:extLst>
          </p:cNvPr>
          <p:cNvSpPr txBox="1"/>
          <p:nvPr/>
        </p:nvSpPr>
        <p:spPr>
          <a:xfrm>
            <a:off x="2926080" y="3456432"/>
            <a:ext cx="832104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rPr dirty="0"/>
              <a:t>3: </a:t>
            </a:r>
            <a:r>
              <a:rPr lang="en-US" dirty="0"/>
              <a:t>Market Outlook and Future Horizon Agent</a:t>
            </a:r>
            <a:endParaRPr dirty="0"/>
          </a:p>
          <a:p>
            <a:pPr>
              <a:defRPr sz="1100">
                <a:solidFill>
                  <a:srgbClr val="1E293B"/>
                </a:solidFill>
              </a:defRPr>
            </a:pPr>
            <a:r>
              <a:rPr lang="en-SG" dirty="0"/>
              <a:t>Market Outlook &amp; Future Horizon Agent ingests and continuously interprets in-house research, investment views and forward-looking market signals to understand their implications across asset classes, sectors and themes</a:t>
            </a:r>
            <a:endParaRPr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859FB25-18F2-A768-EA6F-12E300189174}"/>
              </a:ext>
            </a:extLst>
          </p:cNvPr>
          <p:cNvSpPr/>
          <p:nvPr/>
        </p:nvSpPr>
        <p:spPr>
          <a:xfrm>
            <a:off x="731520" y="4242816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F89068-CC25-DB61-55B4-911B2DDCCC13}"/>
              </a:ext>
            </a:extLst>
          </p:cNvPr>
          <p:cNvSpPr/>
          <p:nvPr/>
        </p:nvSpPr>
        <p:spPr>
          <a:xfrm>
            <a:off x="731520" y="4242816"/>
            <a:ext cx="2011680" cy="77724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00BEC7-967E-FE13-CD93-618FEC1D86E1}"/>
              </a:ext>
            </a:extLst>
          </p:cNvPr>
          <p:cNvSpPr txBox="1"/>
          <p:nvPr/>
        </p:nvSpPr>
        <p:spPr>
          <a:xfrm>
            <a:off x="822960" y="4443984"/>
            <a:ext cx="157254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lang="en-US" dirty="0"/>
              <a:t>Explain your proposal</a:t>
            </a:r>
            <a:endParaRPr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F2A977-16FC-DEFB-99BE-56F64D3DA73E}"/>
              </a:ext>
            </a:extLst>
          </p:cNvPr>
          <p:cNvSpPr txBox="1"/>
          <p:nvPr/>
        </p:nvSpPr>
        <p:spPr>
          <a:xfrm>
            <a:off x="2926080" y="4352544"/>
            <a:ext cx="832104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rPr dirty="0"/>
              <a:t>4: </a:t>
            </a:r>
            <a:r>
              <a:rPr lang="en-US" dirty="0"/>
              <a:t>Back Testing Model</a:t>
            </a:r>
            <a:endParaRPr dirty="0"/>
          </a:p>
          <a:p>
            <a:pPr>
              <a:defRPr sz="1100">
                <a:solidFill>
                  <a:srgbClr val="1E293B"/>
                </a:solidFill>
              </a:defRPr>
            </a:pPr>
            <a:r>
              <a:rPr lang="en-US" dirty="0"/>
              <a:t>Integrate with historical market data API provider to ingest market data and back test the effect of a proposal – like investing in JPY Equities during JPY Interest rate surge</a:t>
            </a:r>
            <a:r>
              <a:rPr dirty="0"/>
              <a:t>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B2469812-4E9F-84B8-17EF-ED9F74F67253}"/>
              </a:ext>
            </a:extLst>
          </p:cNvPr>
          <p:cNvSpPr/>
          <p:nvPr/>
        </p:nvSpPr>
        <p:spPr>
          <a:xfrm>
            <a:off x="731520" y="5138928"/>
            <a:ext cx="10698480" cy="777240"/>
          </a:xfrm>
          <a:prstGeom prst="roundRect">
            <a:avLst/>
          </a:prstGeom>
          <a:solidFill>
            <a:srgbClr val="F4F6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6384325-1934-78A2-B084-A24EA9F007A1}"/>
              </a:ext>
            </a:extLst>
          </p:cNvPr>
          <p:cNvSpPr/>
          <p:nvPr/>
        </p:nvSpPr>
        <p:spPr>
          <a:xfrm>
            <a:off x="731520" y="5138928"/>
            <a:ext cx="2011680" cy="777240"/>
          </a:xfrm>
          <a:prstGeom prst="rect">
            <a:avLst/>
          </a:prstGeom>
          <a:solidFill>
            <a:srgbClr val="C5A0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5A9303-5E8E-9159-944A-F7F3602A8A0C}"/>
              </a:ext>
            </a:extLst>
          </p:cNvPr>
          <p:cNvSpPr txBox="1"/>
          <p:nvPr/>
        </p:nvSpPr>
        <p:spPr>
          <a:xfrm>
            <a:off x="822960" y="5340096"/>
            <a:ext cx="152227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lang="en-US" dirty="0"/>
              <a:t>Explainable AI Query</a:t>
            </a:r>
            <a:endParaRPr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49105D-C056-6D02-D2E5-49FB50D6E7FB}"/>
              </a:ext>
            </a:extLst>
          </p:cNvPr>
          <p:cNvSpPr txBox="1"/>
          <p:nvPr/>
        </p:nvSpPr>
        <p:spPr>
          <a:xfrm>
            <a:off x="2926080" y="5248656"/>
            <a:ext cx="8321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C1A30"/>
                </a:solidFill>
              </a:defRPr>
            </a:pPr>
            <a:r>
              <a:rPr dirty="0"/>
              <a:t>5: </a:t>
            </a:r>
            <a:r>
              <a:rPr lang="en-US" dirty="0"/>
              <a:t>Challenge and verify AI Suggestion</a:t>
            </a:r>
            <a:endParaRPr dirty="0"/>
          </a:p>
          <a:p>
            <a:pPr>
              <a:defRPr sz="1100">
                <a:solidFill>
                  <a:srgbClr val="1E293B"/>
                </a:solidFill>
              </a:defRPr>
            </a:pPr>
            <a:r>
              <a:rPr lang="en-US" dirty="0"/>
              <a:t>Any AI Recommendation can be reverse queried using the Recommendation id PKG-SYN-CL-0012-01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88506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813357" cy="6309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5A059"/>
                </a:solidFill>
              </a:defRPr>
            </a:pPr>
            <a:r>
              <a:rPr dirty="0"/>
              <a:t>STRATEGIC IMPACT • SINGHA</a:t>
            </a:r>
            <a:r>
              <a:rPr lang="en-US" dirty="0"/>
              <a:t>CKS</a:t>
            </a:r>
            <a:r>
              <a:rPr dirty="0"/>
              <a:t> 2026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rPr dirty="0"/>
              <a:t>Empowering the RM: The Future of Private Wealth Advisory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257800" cy="2011680"/>
          </a:xfrm>
          <a:prstGeom prst="roundRect">
            <a:avLst/>
          </a:prstGeom>
          <a:solidFill>
            <a:srgbClr val="142A4A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C5A059"/>
                </a:solidFill>
              </a:defRPr>
            </a:pPr>
            <a:r>
              <a:t>⏱️ 10x Advisory Productivity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Cuts RM meeting preparation time from 4 hours to 15 minutes per client. RMs can scale from 20 to 50+ HNW relationships without sacrificing bespoke intimacy.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37360"/>
            <a:ext cx="5257800" cy="2011680"/>
          </a:xfrm>
          <a:prstGeom prst="roundRect">
            <a:avLst/>
          </a:prstGeom>
          <a:solidFill>
            <a:srgbClr val="142A4A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46520" y="192024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C5A059"/>
                </a:solidFill>
              </a:defRPr>
            </a:pPr>
            <a:r>
              <a:t>🛡️ Zero-Defect Risk Governance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Deterministic guardrails eliminate compliance drift, unmonitored margin calls, and unauthorized trades. Every action has an immutable audit trail.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257800" cy="2011680"/>
          </a:xfrm>
          <a:prstGeom prst="roundRect">
            <a:avLst/>
          </a:prstGeom>
          <a:solidFill>
            <a:srgbClr val="142A4A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20624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C5A059"/>
                </a:solidFill>
              </a:defRPr>
            </a:pPr>
            <a:r>
              <a:t>💡 Measurable Alpha &amp; Fee Retention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Proactive tax-loss harvesting and liquidity management turn defensive portfolio management into high-value advisory dialogue.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023360"/>
            <a:ext cx="5257800" cy="2011680"/>
          </a:xfrm>
          <a:prstGeom prst="roundRect">
            <a:avLst/>
          </a:prstGeom>
          <a:solidFill>
            <a:srgbClr val="142A4A"/>
          </a:solidFill>
          <a:ln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4206240"/>
            <a:ext cx="4709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C5A059"/>
                </a:solidFill>
              </a:defRPr>
            </a:pPr>
            <a:r>
              <a:t>🤝 Trust &amp; Human Centrality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AI amplifies rather than replaces the Relationship Manager. Julius Baer retains its core heritage: high-touch human relationships powered by world-class intelligence.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2832</Words>
  <Application>Microsoft Macintosh PowerPoint</Application>
  <PresentationFormat>Widescreen</PresentationFormat>
  <Paragraphs>181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Avijit Ghosh</cp:lastModifiedBy>
  <cp:revision>20</cp:revision>
  <dcterms:created xsi:type="dcterms:W3CDTF">2013-01-27T09:14:16Z</dcterms:created>
  <dcterms:modified xsi:type="dcterms:W3CDTF">2026-09-05T07:50:32Z</dcterms:modified>
  <cp:category/>
</cp:coreProperties>
</file>